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756" r:id="rId1"/>
  </p:sldMasterIdLst>
  <p:notesMasterIdLst>
    <p:notesMasterId r:id="rId22"/>
  </p:notesMasterIdLst>
  <p:sldIdLst>
    <p:sldId id="256" r:id="rId2"/>
    <p:sldId id="280" r:id="rId3"/>
    <p:sldId id="265" r:id="rId4"/>
    <p:sldId id="261" r:id="rId5"/>
    <p:sldId id="257" r:id="rId6"/>
    <p:sldId id="258" r:id="rId7"/>
    <p:sldId id="259" r:id="rId8"/>
    <p:sldId id="266" r:id="rId9"/>
    <p:sldId id="267" r:id="rId10"/>
    <p:sldId id="268" r:id="rId11"/>
    <p:sldId id="269" r:id="rId12"/>
    <p:sldId id="270" r:id="rId13"/>
    <p:sldId id="271" r:id="rId14"/>
    <p:sldId id="273" r:id="rId15"/>
    <p:sldId id="275" r:id="rId16"/>
    <p:sldId id="276" r:id="rId17"/>
    <p:sldId id="274" r:id="rId18"/>
    <p:sldId id="277" r:id="rId19"/>
    <p:sldId id="279" r:id="rId20"/>
    <p:sldId id="264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162D0"/>
    <a:srgbClr val="F26E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000" autoAdjust="0"/>
    <p:restoredTop sz="94660"/>
  </p:normalViewPr>
  <p:slideViewPr>
    <p:cSldViewPr snapToGrid="0">
      <p:cViewPr varScale="1">
        <p:scale>
          <a:sx n="59" d="100"/>
          <a:sy n="59" d="100"/>
        </p:scale>
        <p:origin x="1176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7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i Nukhailawi" userId="3ad2500ab36ff184" providerId="LiveId" clId="{35401748-3134-432D-998A-7CE72E50E4EF}"/>
    <pc:docChg chg="custSel modSld">
      <pc:chgData name="Ali Nukhailawi" userId="3ad2500ab36ff184" providerId="LiveId" clId="{35401748-3134-432D-998A-7CE72E50E4EF}" dt="2026-01-03T09:55:30.400" v="1" actId="27636"/>
      <pc:docMkLst>
        <pc:docMk/>
      </pc:docMkLst>
      <pc:sldChg chg="modSp mod">
        <pc:chgData name="Ali Nukhailawi" userId="3ad2500ab36ff184" providerId="LiveId" clId="{35401748-3134-432D-998A-7CE72E50E4EF}" dt="2026-01-03T09:55:30.400" v="1" actId="27636"/>
        <pc:sldMkLst>
          <pc:docMk/>
          <pc:sldMk cId="3586390374" sldId="256"/>
        </pc:sldMkLst>
        <pc:spChg chg="mod">
          <ac:chgData name="Ali Nukhailawi" userId="3ad2500ab36ff184" providerId="LiveId" clId="{35401748-3134-432D-998A-7CE72E50E4EF}" dt="2026-01-03T09:55:30.400" v="1" actId="27636"/>
          <ac:spMkLst>
            <pc:docMk/>
            <pc:sldMk cId="3586390374" sldId="256"/>
            <ac:spMk id="4" creationId="{2B932D84-EBF4-A677-7F1D-260C181A40D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رأس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fld id="{8D96516C-FCAF-458F-A188-B54D9B67BDC0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4" name="عنصر نائب لصورة الشريحة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en-US" dirty="0"/>
          </a:p>
        </p:txBody>
      </p:sp>
      <p:sp>
        <p:nvSpPr>
          <p:cNvPr id="5" name="عنصر نائب للملاحظا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fld id="{506EDBC8-0A94-4E83-B1C2-84D43545F6A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61121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6EDBC8-0A94-4E83-B1C2-84D43545F6A1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6457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6EDBC8-0A94-4E83-B1C2-84D43545F6A1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18954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C2817-D2BB-439A-59D9-9D91936ED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>
            <a:extLst>
              <a:ext uri="{FF2B5EF4-FFF2-40B4-BE49-F238E27FC236}">
                <a16:creationId xmlns:a16="http://schemas.microsoft.com/office/drawing/2014/main" id="{01544A91-7F2A-BAE9-F8BE-8E2006EBA1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>
            <a:extLst>
              <a:ext uri="{FF2B5EF4-FFF2-40B4-BE49-F238E27FC236}">
                <a16:creationId xmlns:a16="http://schemas.microsoft.com/office/drawing/2014/main" id="{E2E6983F-3B52-C68F-B50B-31BE8D2E91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09F6153B-7BB4-9DE1-B343-E28DEBE9E1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6EDBC8-0A94-4E83-B1C2-84D43545F6A1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09013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31AA6-021C-89AB-7F05-B6C0E8083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>
            <a:extLst>
              <a:ext uri="{FF2B5EF4-FFF2-40B4-BE49-F238E27FC236}">
                <a16:creationId xmlns:a16="http://schemas.microsoft.com/office/drawing/2014/main" id="{4456A233-E8B1-C1C5-BFAC-0D529337A3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>
            <a:extLst>
              <a:ext uri="{FF2B5EF4-FFF2-40B4-BE49-F238E27FC236}">
                <a16:creationId xmlns:a16="http://schemas.microsoft.com/office/drawing/2014/main" id="{0CD5FA14-4455-1E90-9A1B-B200B01D52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39F7C992-7F6F-02D5-A5F9-8269F2D9ED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6EDBC8-0A94-4E83-B1C2-84D43545F6A1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64902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ar-SA"/>
              <a:t>انقر لتحرير نمط العنوان الفرعي للشكل الرئيسي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E314A-2889-423B-B66C-751F04B06FB7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28254-A99C-4659-A32B-CA4B86BE9CB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2624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E314A-2889-423B-B66C-751F04B06FB7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28254-A99C-4659-A32B-CA4B86BE9CB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59434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E314A-2889-423B-B66C-751F04B06FB7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28254-A99C-4659-A32B-CA4B86BE9CB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85797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E314A-2889-423B-B66C-751F04B06FB7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28254-A99C-4659-A32B-CA4B86BE9CB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0332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E314A-2889-423B-B66C-751F04B06FB7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28254-A99C-4659-A32B-CA4B86BE9CBE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0406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E314A-2889-423B-B66C-751F04B06FB7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28254-A99C-4659-A32B-CA4B86BE9CBE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017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E314A-2889-423B-B66C-751F04B06FB7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28254-A99C-4659-A32B-CA4B86BE9CB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9544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محتوى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E314A-2889-423B-B66C-751F04B06FB7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28254-A99C-4659-A32B-CA4B86BE9CB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9483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صور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ar-SA" dirty="0"/>
              <a:t>انقر فوق الأيقونة لإضافة صورة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E314A-2889-423B-B66C-751F04B06FB7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28254-A99C-4659-A32B-CA4B86BE9CB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6712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E314A-2889-423B-B66C-751F04B06FB7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28254-A99C-4659-A32B-CA4B86BE9CB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9963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ar-SA"/>
              <a:t>انقر لتحرير نمط عنوان الشكل الرئيسي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E314A-2889-423B-B66C-751F04B06FB7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28254-A99C-4659-A32B-CA4B86BE9CB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5228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605E314A-2889-423B-B66C-751F04B06FB7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A28254-A99C-4659-A32B-CA4B86BE9CB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2665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A08BCDE5-06FB-EB85-3EB5-C64D77EE4F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453141"/>
            <a:ext cx="9144000" cy="2387600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sz="44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 Oriented Programming (OPP)</a:t>
            </a:r>
            <a:br>
              <a:rPr lang="en-US" sz="44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44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عنوان فرعي 2">
            <a:extLst>
              <a:ext uri="{FF2B5EF4-FFF2-40B4-BE49-F238E27FC236}">
                <a16:creationId xmlns:a16="http://schemas.microsoft.com/office/drawing/2014/main" id="{2B932D84-EBF4-A677-7F1D-260C181A40DA}"/>
              </a:ext>
            </a:extLst>
          </p:cNvPr>
          <p:cNvSpPr txBox="1">
            <a:spLocks/>
          </p:cNvSpPr>
          <p:nvPr/>
        </p:nvSpPr>
        <p:spPr>
          <a:xfrm>
            <a:off x="1524000" y="4429919"/>
            <a:ext cx="9144000" cy="19749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1800" i="1" dirty="0">
                <a:latin typeface="Arial" panose="020B0604020202020204" pitchFamily="34" charset="0"/>
                <a:cs typeface="Arial" panose="020B0604020202020204" pitchFamily="34" charset="0"/>
              </a:rPr>
              <a:t>Ali H. Hassan</a:t>
            </a:r>
          </a:p>
        </p:txBody>
      </p:sp>
      <p:sp>
        <p:nvSpPr>
          <p:cNvPr id="3" name="مربع نص 2">
            <a:extLst>
              <a:ext uri="{FF2B5EF4-FFF2-40B4-BE49-F238E27FC236}">
                <a16:creationId xmlns:a16="http://schemas.microsoft.com/office/drawing/2014/main" id="{02C9D15B-F79D-1CDB-C1ED-843A29F4B388}"/>
              </a:ext>
            </a:extLst>
          </p:cNvPr>
          <p:cNvSpPr txBox="1"/>
          <p:nvPr/>
        </p:nvSpPr>
        <p:spPr>
          <a:xfrm>
            <a:off x="4766147" y="1996109"/>
            <a:ext cx="25843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ar-IQ" sz="2000" b="1" dirty="0">
                <a:solidFill>
                  <a:schemeClr val="bg2">
                    <a:lumMod val="25000"/>
                  </a:schemeClr>
                </a:solidFill>
              </a:rPr>
              <a:t>البرمجة كائنة التوجه </a:t>
            </a:r>
            <a:r>
              <a:rPr lang="en-US" sz="2000" b="1" dirty="0">
                <a:solidFill>
                  <a:schemeClr val="bg2">
                    <a:lumMod val="25000"/>
                  </a:schemeClr>
                </a:solidFill>
              </a:rPr>
              <a:t>(OPP)</a:t>
            </a:r>
          </a:p>
        </p:txBody>
      </p:sp>
      <p:sp>
        <p:nvSpPr>
          <p:cNvPr id="5" name="مربع نص 4">
            <a:extLst>
              <a:ext uri="{FF2B5EF4-FFF2-40B4-BE49-F238E27FC236}">
                <a16:creationId xmlns:a16="http://schemas.microsoft.com/office/drawing/2014/main" id="{1802F3A0-969E-A383-E51C-F254589F1044}"/>
              </a:ext>
            </a:extLst>
          </p:cNvPr>
          <p:cNvSpPr txBox="1"/>
          <p:nvPr/>
        </p:nvSpPr>
        <p:spPr>
          <a:xfrm>
            <a:off x="1870321" y="2782812"/>
            <a:ext cx="84513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A162D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Objects  and  Member  Functions  in  Object Oriented  Programming</a:t>
            </a:r>
          </a:p>
        </p:txBody>
      </p:sp>
      <p:sp>
        <p:nvSpPr>
          <p:cNvPr id="8" name="مربع نص 7">
            <a:extLst>
              <a:ext uri="{FF2B5EF4-FFF2-40B4-BE49-F238E27FC236}">
                <a16:creationId xmlns:a16="http://schemas.microsoft.com/office/drawing/2014/main" id="{721F2E79-A860-5652-C258-9DC935330BC2}"/>
              </a:ext>
            </a:extLst>
          </p:cNvPr>
          <p:cNvSpPr txBox="1"/>
          <p:nvPr/>
        </p:nvSpPr>
        <p:spPr>
          <a:xfrm>
            <a:off x="3922164" y="3227334"/>
            <a:ext cx="43476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ar-IQ" sz="2000" dirty="0">
                <a:solidFill>
                  <a:schemeClr val="bg2">
                    <a:lumMod val="25000"/>
                  </a:schemeClr>
                </a:solidFill>
              </a:rPr>
              <a:t>الكائنات والدوال الأعضاء في البرمجة كائنية التوجه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6390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AA21D01A-56F9-9BA4-D10C-17641AD9A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2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622A62"/>
                </a:solidFill>
                <a:latin typeface="Readex Pro"/>
              </a:rPr>
              <a:t>Encapsulation</a:t>
            </a:r>
          </a:p>
        </p:txBody>
      </p:sp>
      <p:sp>
        <p:nvSpPr>
          <p:cNvPr id="4" name="مربع نص 3">
            <a:extLst>
              <a:ext uri="{FF2B5EF4-FFF2-40B4-BE49-F238E27FC236}">
                <a16:creationId xmlns:a16="http://schemas.microsoft.com/office/drawing/2014/main" id="{BE466B4D-66DB-7F8B-275E-CDC9FE02DE4C}"/>
              </a:ext>
            </a:extLst>
          </p:cNvPr>
          <p:cNvSpPr txBox="1"/>
          <p:nvPr/>
        </p:nvSpPr>
        <p:spPr>
          <a:xfrm>
            <a:off x="5710317" y="3691671"/>
            <a:ext cx="7713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ar-IQ" sz="2000" dirty="0">
                <a:solidFill>
                  <a:schemeClr val="bg2">
                    <a:lumMod val="50000"/>
                  </a:schemeClr>
                </a:solidFill>
              </a:rPr>
              <a:t>التغليف</a:t>
            </a:r>
            <a:endParaRPr lang="en-US" sz="20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6294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A6915153-A387-B971-50BB-B70B636DC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622A62"/>
                </a:solidFill>
                <a:latin typeface="Readex Pro"/>
              </a:rPr>
              <a:t>Table of Contents</a:t>
            </a: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7520E79C-0449-3C33-02BC-0FABDC0D6E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ar-IQ" b="1" i="0" dirty="0">
              <a:solidFill>
                <a:srgbClr val="622A62"/>
              </a:solidFill>
              <a:effectLst/>
              <a:latin typeface="Readex Pro"/>
            </a:endParaRPr>
          </a:p>
          <a:p>
            <a:r>
              <a:rPr lang="en-US" dirty="0">
                <a:solidFill>
                  <a:srgbClr val="A162D0"/>
                </a:solidFill>
                <a:latin typeface="Calibri (النص الأساسي)"/>
                <a:ea typeface="+mj-ea"/>
                <a:cs typeface="Arial" panose="020B0604020202020204" pitchFamily="34" charset="0"/>
              </a:rPr>
              <a:t>Objects and Member Access</a:t>
            </a:r>
            <a:endParaRPr lang="ar-IQ" dirty="0">
              <a:solidFill>
                <a:srgbClr val="A162D0"/>
              </a:solidFill>
              <a:latin typeface="Calibri (النص الأساسي)"/>
              <a:ea typeface="+mj-ea"/>
              <a:cs typeface="Arial" panose="020B0604020202020204" pitchFamily="34" charset="0"/>
            </a:endParaRPr>
          </a:p>
          <a:p>
            <a:pPr marL="0" indent="0">
              <a:buNone/>
            </a:pPr>
            <a:endParaRPr kumimoji="0" lang="ar-IQ" sz="1000" b="1" i="0" u="none" strike="noStrike" kern="1200" cap="none" spc="0" normalizeH="0" baseline="0" noProof="0" dirty="0">
              <a:ln>
                <a:noFill/>
              </a:ln>
              <a:solidFill>
                <a:srgbClr val="622A62"/>
              </a:solidFill>
              <a:effectLst/>
              <a:uLnTx/>
              <a:uFillTx/>
              <a:latin typeface="Readex Pro"/>
              <a:ea typeface="+mn-ea"/>
              <a:cs typeface="Arial" panose="020B0604020202020204" pitchFamily="34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 2" pitchFamily="18" charset="2"/>
              <a:buChar char=""/>
              <a:tabLst/>
              <a:defRPr/>
            </a:pPr>
            <a:r>
              <a:rPr lang="en-US" dirty="0">
                <a:solidFill>
                  <a:srgbClr val="A162D0"/>
                </a:solidFill>
                <a:latin typeface="Calibri (النص الأساسي)"/>
                <a:ea typeface="+mj-ea"/>
                <a:cs typeface="Arial" panose="020B0604020202020204" pitchFamily="34" charset="0"/>
              </a:rPr>
              <a:t>Defining Member Functions</a:t>
            </a:r>
            <a:endParaRPr lang="ar-IQ" dirty="0">
              <a:solidFill>
                <a:srgbClr val="A162D0"/>
              </a:solidFill>
              <a:latin typeface="Calibri (النص الأساسي)"/>
              <a:ea typeface="+mj-ea"/>
              <a:cs typeface="Arial" panose="020B0604020202020204" pitchFamily="34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 2" pitchFamily="18" charset="2"/>
              <a:buChar char=""/>
              <a:tabLst/>
              <a:defRPr/>
            </a:pPr>
            <a:endParaRPr kumimoji="0" lang="ar-IQ" sz="1000" b="1" i="0" u="none" strike="noStrike" kern="1200" cap="none" spc="0" normalizeH="0" baseline="0" noProof="0" dirty="0">
              <a:ln>
                <a:noFill/>
              </a:ln>
              <a:solidFill>
                <a:srgbClr val="622A62"/>
              </a:solidFill>
              <a:effectLst/>
              <a:uLnTx/>
              <a:uFillTx/>
              <a:latin typeface="Readex Pro"/>
              <a:ea typeface="+mn-ea"/>
              <a:cs typeface="Arial" panose="020B0604020202020204" pitchFamily="34" charset="0"/>
            </a:endParaRPr>
          </a:p>
          <a:p>
            <a:pPr>
              <a:defRPr/>
            </a:pPr>
            <a:r>
              <a:rPr lang="en-US" dirty="0">
                <a:solidFill>
                  <a:srgbClr val="A162D0"/>
                </a:solidFill>
                <a:latin typeface="Calibri (النص الأساسي)"/>
                <a:ea typeface="+mj-ea"/>
                <a:cs typeface="Arial" panose="020B0604020202020204" pitchFamily="34" charset="0"/>
              </a:rPr>
              <a:t>Object as Function Arguments</a:t>
            </a:r>
            <a:endParaRPr lang="ar-IQ" dirty="0">
              <a:solidFill>
                <a:srgbClr val="A162D0"/>
              </a:solidFill>
              <a:latin typeface="Calibri (النص الأساسي)"/>
              <a:ea typeface="+mj-ea"/>
              <a:cs typeface="Arial" panose="020B0604020202020204" pitchFamily="34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 2" pitchFamily="18" charset="2"/>
              <a:buChar char=""/>
              <a:tabLst/>
              <a:defRPr/>
            </a:pPr>
            <a:endParaRPr kumimoji="0" lang="ar-IQ" sz="800" b="1" i="0" u="none" strike="noStrike" kern="1200" cap="none" spc="0" normalizeH="0" baseline="0" noProof="0" dirty="0">
              <a:ln>
                <a:noFill/>
              </a:ln>
              <a:solidFill>
                <a:srgbClr val="622A62"/>
              </a:solidFill>
              <a:effectLst/>
              <a:uLnTx/>
              <a:uFillTx/>
              <a:latin typeface="Readex Pro"/>
              <a:ea typeface="+mn-ea"/>
              <a:cs typeface="Arial" panose="020B0604020202020204" pitchFamily="34" charset="0"/>
            </a:endParaRPr>
          </a:p>
          <a:p>
            <a:pPr marR="0" lvl="0" fontAlgn="auto">
              <a:spcAft>
                <a:spcPts val="0"/>
              </a:spcAft>
              <a:buClrTx/>
              <a:buSzTx/>
              <a:tabLst/>
              <a:defRPr/>
            </a:pPr>
            <a:r>
              <a:rPr lang="en-US" dirty="0">
                <a:solidFill>
                  <a:srgbClr val="A162D0"/>
                </a:solidFill>
                <a:latin typeface="Calibri (النص الأساسي)"/>
                <a:ea typeface="+mj-ea"/>
                <a:cs typeface="Arial" panose="020B0604020202020204" pitchFamily="34" charset="0"/>
              </a:rPr>
              <a:t>Object as Return Type</a:t>
            </a:r>
            <a:endParaRPr lang="ar-IQ" dirty="0">
              <a:solidFill>
                <a:srgbClr val="A162D0"/>
              </a:solidFill>
              <a:latin typeface="Calibri (النص الأساسي)"/>
              <a:ea typeface="+mj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lang="ar-IQ" sz="800" noProof="0" dirty="0">
              <a:solidFill>
                <a:prstClr val="black"/>
              </a:solidFill>
              <a:latin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ar-IQ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endParaRPr kumimoji="0" lang="ar-IQ" sz="100" b="1" i="0" u="none" strike="noStrike" kern="1200" cap="none" spc="0" normalizeH="0" baseline="0" noProof="0" dirty="0">
              <a:ln>
                <a:noFill/>
              </a:ln>
              <a:solidFill>
                <a:srgbClr val="622A62"/>
              </a:solidFill>
              <a:effectLst/>
              <a:uLnTx/>
              <a:uFillTx/>
              <a:latin typeface="Readex Pro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endParaRPr kumimoji="0" lang="ar-IQ" sz="900" b="1" i="0" u="none" strike="noStrike" kern="1200" cap="none" spc="0" normalizeH="0" baseline="0" noProof="0" dirty="0">
              <a:ln>
                <a:noFill/>
              </a:ln>
              <a:solidFill>
                <a:srgbClr val="622A62"/>
              </a:solidFill>
              <a:effectLst/>
              <a:uLnTx/>
              <a:uFillTx/>
              <a:latin typeface="Readex Pro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مربع نص 3">
            <a:extLst>
              <a:ext uri="{FF2B5EF4-FFF2-40B4-BE49-F238E27FC236}">
                <a16:creationId xmlns:a16="http://schemas.microsoft.com/office/drawing/2014/main" id="{C2715E21-E3D0-551C-8F43-4521AB2461C9}"/>
              </a:ext>
            </a:extLst>
          </p:cNvPr>
          <p:cNvSpPr txBox="1"/>
          <p:nvPr/>
        </p:nvSpPr>
        <p:spPr>
          <a:xfrm>
            <a:off x="3532977" y="1304447"/>
            <a:ext cx="14638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ar-IQ" sz="2000" dirty="0">
                <a:solidFill>
                  <a:schemeClr val="bg2">
                    <a:lumMod val="50000"/>
                  </a:schemeClr>
                </a:solidFill>
              </a:rPr>
              <a:t>قائمة المحتويات</a:t>
            </a:r>
            <a:endParaRPr lang="en-US" sz="20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5" name="مربع نص 4">
            <a:extLst>
              <a:ext uri="{FF2B5EF4-FFF2-40B4-BE49-F238E27FC236}">
                <a16:creationId xmlns:a16="http://schemas.microsoft.com/office/drawing/2014/main" id="{AEB25AD0-549A-2327-37B2-24B6C6D890BC}"/>
              </a:ext>
            </a:extLst>
          </p:cNvPr>
          <p:cNvSpPr txBox="1"/>
          <p:nvPr/>
        </p:nvSpPr>
        <p:spPr>
          <a:xfrm>
            <a:off x="2898779" y="2762281"/>
            <a:ext cx="23455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ar-IQ" sz="2000" dirty="0">
                <a:solidFill>
                  <a:schemeClr val="bg2">
                    <a:lumMod val="50000"/>
                  </a:schemeClr>
                </a:solidFill>
              </a:rPr>
              <a:t>الكائنات ووصول الاعضاء</a:t>
            </a:r>
            <a:endParaRPr lang="en-US" sz="20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6" name="مربع نص 5">
            <a:extLst>
              <a:ext uri="{FF2B5EF4-FFF2-40B4-BE49-F238E27FC236}">
                <a16:creationId xmlns:a16="http://schemas.microsoft.com/office/drawing/2014/main" id="{74FCB72F-7003-8FA3-40A1-D8771E2E9EF8}"/>
              </a:ext>
            </a:extLst>
          </p:cNvPr>
          <p:cNvSpPr txBox="1"/>
          <p:nvPr/>
        </p:nvSpPr>
        <p:spPr>
          <a:xfrm>
            <a:off x="3171291" y="3536025"/>
            <a:ext cx="20730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ar-IQ" sz="2000" dirty="0">
                <a:solidFill>
                  <a:schemeClr val="bg2">
                    <a:lumMod val="50000"/>
                  </a:schemeClr>
                </a:solidFill>
              </a:rPr>
              <a:t>تعريف الدوال الأعضاء</a:t>
            </a:r>
            <a:endParaRPr lang="en-US" sz="20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" name="مربع نص 6">
            <a:extLst>
              <a:ext uri="{FF2B5EF4-FFF2-40B4-BE49-F238E27FC236}">
                <a16:creationId xmlns:a16="http://schemas.microsoft.com/office/drawing/2014/main" id="{6ECD329A-0BAE-F4F6-E58F-5DC44FBD4EE5}"/>
              </a:ext>
            </a:extLst>
          </p:cNvPr>
          <p:cNvSpPr txBox="1"/>
          <p:nvPr/>
        </p:nvSpPr>
        <p:spPr>
          <a:xfrm>
            <a:off x="3477464" y="4309769"/>
            <a:ext cx="17668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ar-IQ" sz="2000" dirty="0">
                <a:solidFill>
                  <a:schemeClr val="bg2">
                    <a:lumMod val="50000"/>
                  </a:schemeClr>
                </a:solidFill>
              </a:rPr>
              <a:t>الكائن كدالة وسائط </a:t>
            </a:r>
            <a:endParaRPr lang="en-US" sz="20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8" name="مربع نص 7">
            <a:extLst>
              <a:ext uri="{FF2B5EF4-FFF2-40B4-BE49-F238E27FC236}">
                <a16:creationId xmlns:a16="http://schemas.microsoft.com/office/drawing/2014/main" id="{0673BC28-506F-D325-0524-E2C93965CC9B}"/>
              </a:ext>
            </a:extLst>
          </p:cNvPr>
          <p:cNvSpPr txBox="1"/>
          <p:nvPr/>
        </p:nvSpPr>
        <p:spPr>
          <a:xfrm>
            <a:off x="3532977" y="5052393"/>
            <a:ext cx="17155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ar-IQ" sz="2000" dirty="0">
                <a:solidFill>
                  <a:schemeClr val="bg2">
                    <a:lumMod val="50000"/>
                  </a:schemeClr>
                </a:solidFill>
              </a:rPr>
              <a:t>الكائن كنوع إرجاع</a:t>
            </a:r>
            <a:endParaRPr lang="en-US" sz="20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1237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5DC136FF-EEEA-928C-C61B-FFE3D1991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i="0" dirty="0">
                <a:solidFill>
                  <a:srgbClr val="622A62"/>
                </a:solidFill>
                <a:effectLst/>
                <a:latin typeface="Readex Pro"/>
              </a:rPr>
              <a:t>Introduction to Encapsulation</a:t>
            </a:r>
            <a:endParaRPr lang="en-US" dirty="0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385A958B-D143-EBF8-4FE5-A91BC77C8B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Low" rtl="0">
              <a:lnSpc>
                <a:spcPct val="100000"/>
              </a:lnSpc>
            </a:pPr>
            <a:r>
              <a:rPr lang="en-US" sz="2400" dirty="0"/>
              <a:t>In C++, OOPs encapsulation is implemented using classes and access specifiers that keeps the data, and the manipulating methods enclosed inside a single unit.</a:t>
            </a:r>
          </a:p>
          <a:p>
            <a:pPr algn="r" rtl="1">
              <a:lnSpc>
                <a:spcPct val="100000"/>
              </a:lnSpc>
            </a:pPr>
            <a:r>
              <a:rPr lang="ar-IQ" sz="1800" i="1" dirty="0">
                <a:solidFill>
                  <a:schemeClr val="bg1">
                    <a:lumMod val="50000"/>
                  </a:schemeClr>
                </a:solidFill>
              </a:rPr>
              <a:t>في لغة</a:t>
            </a:r>
            <a:r>
              <a:rPr lang="en-US" sz="1800" i="1" dirty="0">
                <a:solidFill>
                  <a:schemeClr val="bg1">
                    <a:lumMod val="50000"/>
                  </a:schemeClr>
                </a:solidFill>
              </a:rPr>
              <a:t> C++ </a:t>
            </a:r>
            <a:r>
              <a:rPr lang="ar-IQ" sz="1800" i="1" dirty="0">
                <a:solidFill>
                  <a:schemeClr val="bg1">
                    <a:lumMod val="50000"/>
                  </a:schemeClr>
                </a:solidFill>
              </a:rPr>
              <a:t>، والبرمجة الكائنية التوجه</a:t>
            </a:r>
            <a:r>
              <a:rPr lang="en-US" sz="1800" i="1" dirty="0">
                <a:solidFill>
                  <a:schemeClr val="bg1">
                    <a:lumMod val="50000"/>
                  </a:schemeClr>
                </a:solidFill>
              </a:rPr>
              <a:t> (OPP) </a:t>
            </a:r>
            <a:r>
              <a:rPr lang="ar-IQ" sz="1800" i="1" dirty="0">
                <a:solidFill>
                  <a:schemeClr val="bg1">
                    <a:lumMod val="50000"/>
                  </a:schemeClr>
                </a:solidFill>
              </a:rPr>
              <a:t> يطبق التغليف باستخدام فئات ومحددات وصول تُبقي البيانات وطرق المعالجة مُغلَّفة داخل وحدة واحدة.</a:t>
            </a:r>
            <a:endParaRPr lang="en-US" sz="1800" i="1" dirty="0">
              <a:solidFill>
                <a:schemeClr val="bg1">
                  <a:lumMod val="50000"/>
                </a:schemeClr>
              </a:solidFill>
            </a:endParaRPr>
          </a:p>
          <a:p>
            <a:pPr algn="justLow" rtl="0">
              <a:lnSpc>
                <a:spcPct val="100000"/>
              </a:lnSpc>
            </a:pPr>
            <a:r>
              <a:rPr lang="en-US" sz="2400" dirty="0"/>
              <a:t>The direct advantage of this packaging is that only the required components are visible to the user, and other information is hidden.</a:t>
            </a:r>
          </a:p>
          <a:p>
            <a:pPr algn="r" rtl="1">
              <a:lnSpc>
                <a:spcPct val="100000"/>
              </a:lnSpc>
            </a:pPr>
            <a:r>
              <a:rPr lang="ar-IQ" sz="1800" i="1" dirty="0">
                <a:solidFill>
                  <a:prstClr val="white">
                    <a:lumMod val="50000"/>
                  </a:prstClr>
                </a:solidFill>
                <a:latin typeface="Aptos" panose="02110004020202020204"/>
              </a:rPr>
              <a:t>الميزة المباشرة لهذا التغليف هي أن المكونات المطلوبة فقط هي المرئية للمستخدم، بينما تُخفى المعلومات الأخرى.</a:t>
            </a:r>
            <a:endParaRPr lang="ar-IQ" sz="2400" dirty="0"/>
          </a:p>
        </p:txBody>
      </p:sp>
    </p:spTree>
    <p:extLst>
      <p:ext uri="{BB962C8B-B14F-4D97-AF65-F5344CB8AC3E}">
        <p14:creationId xmlns:p14="http://schemas.microsoft.com/office/powerpoint/2010/main" val="2135313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000"/>
    </mc:Choice>
    <mc:Fallback xmlns="">
      <p:transition spd="slow" advTm="8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0036628E-8EFE-0E2B-13BD-96C198364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b="1" dirty="0">
                <a:solidFill>
                  <a:srgbClr val="622A62"/>
                </a:solidFill>
                <a:latin typeface="Readex Pro"/>
              </a:rPr>
              <a:t>What is </a:t>
            </a:r>
            <a:r>
              <a:rPr lang="en-US" b="1" i="0" dirty="0">
                <a:solidFill>
                  <a:srgbClr val="622A62"/>
                </a:solidFill>
                <a:effectLst/>
                <a:latin typeface="Readex Pro"/>
              </a:rPr>
              <a:t>Encapsulation?</a:t>
            </a:r>
            <a:endParaRPr lang="en-US" dirty="0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F86936C7-9CCC-3FC1-453F-288D47DBB5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Low" rtl="0">
              <a:lnSpc>
                <a:spcPct val="100000"/>
              </a:lnSpc>
            </a:pPr>
            <a:r>
              <a:rPr lang="en-US" sz="2400" dirty="0"/>
              <a:t>Encapsulation is one of the fundamental principles of object-oriented programming (OPP)</a:t>
            </a:r>
            <a:endParaRPr lang="en-US" dirty="0"/>
          </a:p>
          <a:p>
            <a:pPr algn="r" rtl="1">
              <a:lnSpc>
                <a:spcPct val="100000"/>
              </a:lnSpc>
            </a:pPr>
            <a:r>
              <a:rPr lang="ar-IQ" sz="1800" i="1" dirty="0">
                <a:solidFill>
                  <a:schemeClr val="bg1">
                    <a:lumMod val="50000"/>
                  </a:schemeClr>
                </a:solidFill>
              </a:rPr>
              <a:t>التغليف هو واحد من المبادئ الرئيسية للبرمجة كائنية التوجه </a:t>
            </a:r>
            <a:r>
              <a:rPr lang="en-US" sz="1800" i="1" dirty="0">
                <a:solidFill>
                  <a:schemeClr val="bg1">
                    <a:lumMod val="50000"/>
                  </a:schemeClr>
                </a:solidFill>
              </a:rPr>
              <a:t>(OPP)</a:t>
            </a:r>
            <a:endParaRPr lang="ar-IQ" sz="1800" i="1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1800" i="1" dirty="0">
              <a:solidFill>
                <a:schemeClr val="bg1">
                  <a:lumMod val="50000"/>
                </a:schemeClr>
              </a:solidFill>
            </a:endParaRPr>
          </a:p>
          <a:p>
            <a:pPr algn="justLow" rtl="0">
              <a:lnSpc>
                <a:spcPct val="100000"/>
              </a:lnSpc>
            </a:pPr>
            <a:r>
              <a:rPr lang="en-US" sz="2400" dirty="0"/>
              <a:t>Provides data protection by restricting access</a:t>
            </a:r>
          </a:p>
          <a:p>
            <a:pPr algn="r" rtl="1">
              <a:lnSpc>
                <a:spcPct val="100000"/>
              </a:lnSpc>
            </a:pPr>
            <a:r>
              <a:rPr lang="ar-IQ" sz="1800" i="1" dirty="0">
                <a:solidFill>
                  <a:prstClr val="white">
                    <a:lumMod val="50000"/>
                  </a:prstClr>
                </a:solidFill>
                <a:latin typeface="Aptos" panose="02110004020202020204"/>
              </a:rPr>
              <a:t>يوفر حماية للبيانات من خلال تقييد الوصول إليها</a:t>
            </a:r>
            <a:endParaRPr lang="ar-IQ" sz="2400" dirty="0"/>
          </a:p>
          <a:p>
            <a:pPr algn="justLow" rtl="0">
              <a:lnSpc>
                <a:spcPct val="100000"/>
              </a:lnSpc>
            </a:pPr>
            <a:endParaRPr lang="ar-IQ" sz="2400" dirty="0"/>
          </a:p>
          <a:p>
            <a:pPr algn="justLow" rtl="0">
              <a:lnSpc>
                <a:spcPct val="100000"/>
              </a:lnSpc>
            </a:pPr>
            <a:r>
              <a:rPr lang="en-US" dirty="0"/>
              <a:t>Simplifies program maintenance</a:t>
            </a:r>
            <a:endParaRPr lang="ar-IQ" dirty="0"/>
          </a:p>
          <a:p>
            <a:pPr algn="r" rtl="1">
              <a:lnSpc>
                <a:spcPct val="100000"/>
              </a:lnSpc>
            </a:pPr>
            <a:r>
              <a:rPr kumimoji="0" lang="ar-IQ" sz="18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</a:rPr>
              <a:t>يبسط صيانة البرنامج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001311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000"/>
    </mc:Choice>
    <mc:Fallback xmlns="">
      <p:transition spd="slow" advTm="8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D264F6A9-EB92-6CF7-F7B7-2007E4519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b="1" dirty="0">
                <a:solidFill>
                  <a:srgbClr val="622A62"/>
                </a:solidFill>
                <a:latin typeface="Readex Pro"/>
              </a:rPr>
              <a:t>How to </a:t>
            </a:r>
            <a:r>
              <a:rPr lang="en-US" b="1" i="0" dirty="0">
                <a:solidFill>
                  <a:srgbClr val="622A62"/>
                </a:solidFill>
                <a:effectLst/>
                <a:latin typeface="Readex Pro"/>
              </a:rPr>
              <a:t>Encapsulation?</a:t>
            </a:r>
            <a:endParaRPr lang="en-US" dirty="0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5394D7F5-B88A-7108-B349-49C5A812A7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Low" rtl="0">
              <a:lnSpc>
                <a:spcPct val="100000"/>
              </a:lnSpc>
            </a:pPr>
            <a:r>
              <a:rPr lang="en-US" sz="2400" dirty="0"/>
              <a:t>The main idea of ​​encapsulation is to hide data on the one hand and make it accessible on the other.</a:t>
            </a:r>
          </a:p>
          <a:p>
            <a:pPr algn="r" rtl="1">
              <a:lnSpc>
                <a:spcPct val="100000"/>
              </a:lnSpc>
            </a:pPr>
            <a:r>
              <a:rPr lang="ar-IQ" sz="1900" i="1" dirty="0">
                <a:solidFill>
                  <a:schemeClr val="bg1">
                    <a:lumMod val="50000"/>
                  </a:schemeClr>
                </a:solidFill>
              </a:rPr>
              <a:t>فكرة التغليف الأساسية هي إخفاء البيانات من جهة و إتاحة التعامل معها من جهة أخرى</a:t>
            </a:r>
          </a:p>
          <a:p>
            <a:pPr marL="0" indent="0">
              <a:lnSpc>
                <a:spcPct val="100000"/>
              </a:lnSpc>
              <a:buNone/>
            </a:pPr>
            <a:endParaRPr lang="en-US" i="1" dirty="0">
              <a:solidFill>
                <a:schemeClr val="bg1">
                  <a:lumMod val="50000"/>
                </a:schemeClr>
              </a:solidFill>
            </a:endParaRPr>
          </a:p>
          <a:p>
            <a:pPr algn="justLow" rtl="0">
              <a:lnSpc>
                <a:spcPct val="100000"/>
              </a:lnSpc>
            </a:pPr>
            <a:r>
              <a:rPr lang="en-US" sz="2400" dirty="0"/>
              <a:t>Variables must be made</a:t>
            </a:r>
            <a:r>
              <a:rPr lang="ar-IQ" sz="2400" dirty="0"/>
              <a:t> </a:t>
            </a:r>
            <a:r>
              <a:rPr lang="en-US" sz="2400" dirty="0"/>
              <a:t>private</a:t>
            </a:r>
          </a:p>
          <a:p>
            <a:pPr algn="r" rtl="1">
              <a:lnSpc>
                <a:spcPct val="100000"/>
              </a:lnSpc>
            </a:pPr>
            <a:r>
              <a:rPr lang="ar-IQ" sz="1800" i="1" dirty="0">
                <a:solidFill>
                  <a:prstClr val="white">
                    <a:lumMod val="50000"/>
                  </a:prstClr>
                </a:solidFill>
                <a:latin typeface="Aptos" panose="02110004020202020204"/>
              </a:rPr>
              <a:t>المتغيرات يجب ان تكون خاصة</a:t>
            </a:r>
            <a:endParaRPr lang="ar-IQ" sz="1800" dirty="0"/>
          </a:p>
          <a:p>
            <a:pPr algn="justLow" rtl="0">
              <a:lnSpc>
                <a:spcPct val="100000"/>
              </a:lnSpc>
            </a:pPr>
            <a:endParaRPr lang="ar-IQ" dirty="0"/>
          </a:p>
          <a:p>
            <a:pPr algn="justLow" rtl="0">
              <a:lnSpc>
                <a:spcPct val="100000"/>
              </a:lnSpc>
            </a:pPr>
            <a:r>
              <a:rPr lang="en-US" sz="2400" dirty="0"/>
              <a:t>Find a way to access these variables from the outside</a:t>
            </a:r>
            <a:endParaRPr lang="ar-IQ" sz="2400" dirty="0"/>
          </a:p>
          <a:p>
            <a:pPr algn="r" rtl="1">
              <a:lnSpc>
                <a:spcPct val="100000"/>
              </a:lnSpc>
            </a:pPr>
            <a:r>
              <a:rPr kumimoji="0" lang="ar-IQ" sz="18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</a:rPr>
              <a:t>ايجاد طريقة للوصول الى هذه </a:t>
            </a:r>
            <a:r>
              <a:rPr lang="ar-IQ" sz="1800" i="1" dirty="0">
                <a:solidFill>
                  <a:prstClr val="white">
                    <a:lumMod val="50000"/>
                  </a:prstClr>
                </a:solidFill>
                <a:latin typeface="Aptos" panose="02110004020202020204"/>
              </a:rPr>
              <a:t>المتغيرات</a:t>
            </a:r>
            <a:r>
              <a:rPr kumimoji="0" lang="ar-IQ" sz="18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</a:rPr>
              <a:t> من الخارج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030637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000"/>
    </mc:Choice>
    <mc:Fallback xmlns="">
      <p:transition spd="slow" advTm="8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C4AFE-5EAE-95BF-E747-8C7A8D829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093519C5-1F57-113B-113D-1C89372B4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b="1" dirty="0">
                <a:solidFill>
                  <a:srgbClr val="622A62"/>
                </a:solidFill>
                <a:latin typeface="Readex Pro"/>
              </a:rPr>
              <a:t>How to </a:t>
            </a:r>
            <a:r>
              <a:rPr lang="en-US" b="1" i="0" dirty="0">
                <a:solidFill>
                  <a:srgbClr val="622A62"/>
                </a:solidFill>
                <a:effectLst/>
                <a:latin typeface="Readex Pro"/>
              </a:rPr>
              <a:t>Encapsulation?</a:t>
            </a:r>
            <a:endParaRPr lang="en-US" dirty="0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4478E77F-DA44-A97D-75A1-C7D5B6BDC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Low" rtl="0">
              <a:lnSpc>
                <a:spcPct val="100000"/>
              </a:lnSpc>
            </a:pPr>
            <a:r>
              <a:rPr lang="en-US" sz="2800" dirty="0"/>
              <a:t>Public functions should be prepared so that they can be accessed from anywhere.</a:t>
            </a:r>
            <a:endParaRPr lang="en-US" dirty="0"/>
          </a:p>
          <a:p>
            <a:pPr algn="r" rtl="1">
              <a:lnSpc>
                <a:spcPct val="100000"/>
              </a:lnSpc>
            </a:pPr>
            <a:r>
              <a:rPr lang="ar-IQ" sz="2000" i="1" dirty="0">
                <a:solidFill>
                  <a:schemeClr val="bg1">
                    <a:lumMod val="50000"/>
                  </a:schemeClr>
                </a:solidFill>
              </a:rPr>
              <a:t>يجب تجهيز دوال نوعها عامة ليكون بالإمكان الوصول إليها من اي مكان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000" i="1" dirty="0">
              <a:solidFill>
                <a:schemeClr val="bg1">
                  <a:lumMod val="50000"/>
                </a:schemeClr>
              </a:solidFill>
            </a:endParaRPr>
          </a:p>
          <a:p>
            <a:pPr algn="justLow" rtl="0">
              <a:lnSpc>
                <a:spcPct val="100000"/>
              </a:lnSpc>
            </a:pPr>
            <a:r>
              <a:rPr lang="en-US" sz="2800" dirty="0"/>
              <a:t>Properties should be kept private, while their accessor methods should be public</a:t>
            </a:r>
          </a:p>
          <a:p>
            <a:pPr algn="r" rtl="1">
              <a:lnSpc>
                <a:spcPct val="100000"/>
              </a:lnSpc>
            </a:pPr>
            <a:r>
              <a:rPr lang="ar-IQ" sz="2000" i="1" dirty="0">
                <a:solidFill>
                  <a:prstClr val="white">
                    <a:lumMod val="50000"/>
                  </a:prstClr>
                </a:solidFill>
                <a:latin typeface="Aptos" panose="02110004020202020204"/>
              </a:rPr>
              <a:t>اذا يجب جعل الخصائص من نوع خاص والدوال التي تستخدم في الوصول اليهم من النوع العام</a:t>
            </a:r>
            <a:endParaRPr lang="ar-IQ" sz="2800" dirty="0"/>
          </a:p>
          <a:p>
            <a:pPr algn="justLow" rtl="0">
              <a:lnSpc>
                <a:spcPct val="100000"/>
              </a:lnSpc>
            </a:pPr>
            <a:endParaRPr lang="ar-IQ" sz="2800" dirty="0"/>
          </a:p>
          <a:p>
            <a:pPr lvl="1" algn="justLow" rtl="0">
              <a:lnSpc>
                <a:spcPct val="100000"/>
              </a:lnSpc>
            </a:pPr>
            <a:r>
              <a:rPr lang="en-US" dirty="0"/>
              <a:t>Setting a variable's value using</a:t>
            </a:r>
            <a:r>
              <a:rPr lang="ar-IQ" dirty="0"/>
              <a:t> </a:t>
            </a:r>
            <a:r>
              <a:rPr lang="en-US" dirty="0"/>
              <a:t> set() </a:t>
            </a:r>
          </a:p>
          <a:p>
            <a:pPr lvl="1" algn="justLow" rtl="0">
              <a:lnSpc>
                <a:spcPct val="100000"/>
              </a:lnSpc>
            </a:pPr>
            <a:r>
              <a:rPr lang="en-US" dirty="0"/>
              <a:t>Getting a variable's value using get()</a:t>
            </a:r>
            <a:endParaRPr lang="ar-IQ" dirty="0"/>
          </a:p>
          <a:p>
            <a:pPr lvl="1" algn="r" rtl="1">
              <a:lnSpc>
                <a:spcPct val="100000"/>
              </a:lnSpc>
            </a:pPr>
            <a:r>
              <a:rPr kumimoji="0" lang="ar-IQ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</a:rPr>
              <a:t>اعطاء قيمة للمتغير باستخدام</a:t>
            </a: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</a:rPr>
              <a:t> </a:t>
            </a:r>
            <a:r>
              <a:rPr lang="en-US" sz="1600" i="1" dirty="0">
                <a:solidFill>
                  <a:prstClr val="white">
                    <a:lumMod val="50000"/>
                  </a:prstClr>
                </a:solidFill>
                <a:latin typeface="Aptos" panose="02110004020202020204"/>
              </a:rPr>
              <a:t>set() </a:t>
            </a:r>
            <a:endParaRPr kumimoji="0" lang="en-US" sz="1600" b="0" i="1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Aptos" panose="02110004020202020204"/>
              <a:ea typeface="+mn-ea"/>
            </a:endParaRPr>
          </a:p>
          <a:p>
            <a:pPr lvl="1" algn="r" rtl="1">
              <a:lnSpc>
                <a:spcPct val="100000"/>
              </a:lnSpc>
            </a:pPr>
            <a:r>
              <a:rPr lang="ar-IQ" sz="1600" i="1" dirty="0">
                <a:solidFill>
                  <a:prstClr val="white">
                    <a:lumMod val="50000"/>
                  </a:prstClr>
                </a:solidFill>
                <a:latin typeface="Aptos" panose="02110004020202020204"/>
              </a:rPr>
              <a:t>الحصول على قيمة المتغير باستخدام</a:t>
            </a:r>
            <a:r>
              <a:rPr lang="en-US" sz="1600" i="1" dirty="0">
                <a:solidFill>
                  <a:prstClr val="white">
                    <a:lumMod val="50000"/>
                  </a:prstClr>
                </a:solidFill>
                <a:latin typeface="Aptos" panose="02110004020202020204"/>
              </a:rPr>
              <a:t> get() </a:t>
            </a:r>
          </a:p>
        </p:txBody>
      </p:sp>
    </p:spTree>
    <p:extLst>
      <p:ext uri="{BB962C8B-B14F-4D97-AF65-F5344CB8AC3E}">
        <p14:creationId xmlns:p14="http://schemas.microsoft.com/office/powerpoint/2010/main" val="768448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000"/>
    </mc:Choice>
    <mc:Fallback xmlns="">
      <p:transition spd="slow" advTm="8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951B8DFC-7B35-1F72-7D99-7A789DBDE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622A62"/>
                </a:solidFill>
                <a:latin typeface="Readex Pro"/>
              </a:rPr>
              <a:t>Objects and Member Access</a:t>
            </a: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D7517566-20E8-BBF1-3BCF-9E9249C016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Low">
              <a:lnSpc>
                <a:spcPct val="100000"/>
              </a:lnSpc>
            </a:pPr>
            <a:r>
              <a:rPr lang="en-US" dirty="0"/>
              <a:t>When using </a:t>
            </a:r>
            <a:r>
              <a:rPr lang="en-US" dirty="0">
                <a:highlight>
                  <a:srgbClr val="00FFFF"/>
                </a:highlight>
              </a:rPr>
              <a:t>objects</a:t>
            </a:r>
            <a:r>
              <a:rPr lang="en-US" dirty="0"/>
              <a:t>, we access </a:t>
            </a:r>
            <a:r>
              <a:rPr lang="en-US" dirty="0">
                <a:highlight>
                  <a:srgbClr val="FFFF00"/>
                </a:highlight>
              </a:rPr>
              <a:t>class</a:t>
            </a:r>
            <a:r>
              <a:rPr lang="en-US" dirty="0"/>
              <a:t> </a:t>
            </a:r>
            <a:r>
              <a:rPr lang="en-US" dirty="0">
                <a:highlight>
                  <a:srgbClr val="00FF00"/>
                </a:highlight>
              </a:rPr>
              <a:t>members</a:t>
            </a:r>
            <a:r>
              <a:rPr lang="en-US" dirty="0"/>
              <a:t> using the </a:t>
            </a:r>
            <a:r>
              <a:rPr lang="en-US" dirty="0">
                <a:highlight>
                  <a:srgbClr val="FF00FF"/>
                </a:highlight>
              </a:rPr>
              <a:t>dot operator </a:t>
            </a:r>
            <a:r>
              <a:rPr lang="en-US" dirty="0"/>
              <a:t>(.) for direct </a:t>
            </a:r>
            <a:r>
              <a:rPr lang="en-US" dirty="0">
                <a:highlight>
                  <a:srgbClr val="00FF00"/>
                </a:highlight>
              </a:rPr>
              <a:t>member</a:t>
            </a:r>
            <a:r>
              <a:rPr lang="en-US" dirty="0"/>
              <a:t> access.</a:t>
            </a:r>
            <a:endParaRPr lang="en-US" sz="2800" dirty="0"/>
          </a:p>
          <a:p>
            <a:pPr algn="r" rtl="1">
              <a:lnSpc>
                <a:spcPct val="100000"/>
              </a:lnSpc>
            </a:pPr>
            <a:r>
              <a:rPr lang="ar-IQ" sz="2000" i="1" dirty="0">
                <a:solidFill>
                  <a:schemeClr val="bg1">
                    <a:lumMod val="50000"/>
                  </a:schemeClr>
                </a:solidFill>
              </a:rPr>
              <a:t>عندما نستخدم الكائنات, نستطيع الوصول الى أعضاء الكلاس</a:t>
            </a:r>
            <a:r>
              <a:rPr lang="en-US" sz="2000" i="1" dirty="0">
                <a:solidFill>
                  <a:schemeClr val="bg1">
                    <a:lumMod val="50000"/>
                  </a:schemeClr>
                </a:solidFill>
              </a:rPr>
              <a:t>,</a:t>
            </a:r>
            <a:r>
              <a:rPr lang="ar-IQ" sz="2000" i="1" dirty="0">
                <a:solidFill>
                  <a:schemeClr val="bg1">
                    <a:lumMod val="50000"/>
                  </a:schemeClr>
                </a:solidFill>
              </a:rPr>
              <a:t> باستخدام عامل النقطة (</a:t>
            </a:r>
            <a:r>
              <a:rPr lang="en-US" sz="2000" i="1" dirty="0">
                <a:solidFill>
                  <a:schemeClr val="bg1">
                    <a:lumMod val="50000"/>
                  </a:schemeClr>
                </a:solidFill>
              </a:rPr>
              <a:t>.</a:t>
            </a:r>
            <a:r>
              <a:rPr lang="ar-IQ" sz="2000" i="1" dirty="0">
                <a:solidFill>
                  <a:schemeClr val="bg1">
                    <a:lumMod val="50000"/>
                  </a:schemeClr>
                </a:solidFill>
              </a:rPr>
              <a:t>)</a:t>
            </a:r>
            <a:r>
              <a:rPr lang="en-US" sz="2000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ar-IQ" sz="2000" i="1" dirty="0">
                <a:solidFill>
                  <a:schemeClr val="bg1">
                    <a:lumMod val="50000"/>
                  </a:schemeClr>
                </a:solidFill>
              </a:rPr>
              <a:t> للوصول المباشر لأعضاء الـ</a:t>
            </a:r>
            <a:r>
              <a:rPr lang="en-US" sz="2000" i="1" dirty="0">
                <a:solidFill>
                  <a:schemeClr val="bg1">
                    <a:lumMod val="50000"/>
                  </a:schemeClr>
                </a:solidFill>
              </a:rPr>
              <a:t>class</a:t>
            </a:r>
          </a:p>
          <a:p>
            <a:pPr algn="r" rtl="1">
              <a:lnSpc>
                <a:spcPct val="100000"/>
              </a:lnSpc>
            </a:pPr>
            <a:endParaRPr lang="en-US" sz="2000" i="1" dirty="0">
              <a:solidFill>
                <a:schemeClr val="bg1">
                  <a:lumMod val="50000"/>
                </a:schemeClr>
              </a:solidFill>
            </a:endParaRPr>
          </a:p>
          <a:p>
            <a:pPr algn="r" rtl="1">
              <a:lnSpc>
                <a:spcPct val="100000"/>
              </a:lnSpc>
            </a:pPr>
            <a:endParaRPr lang="en-US" sz="2000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مربع نص 3">
            <a:extLst>
              <a:ext uri="{FF2B5EF4-FFF2-40B4-BE49-F238E27FC236}">
                <a16:creationId xmlns:a16="http://schemas.microsoft.com/office/drawing/2014/main" id="{37E3A451-299A-8E8A-CF0A-BFE366A6FC14}"/>
              </a:ext>
            </a:extLst>
          </p:cNvPr>
          <p:cNvSpPr txBox="1"/>
          <p:nvPr/>
        </p:nvSpPr>
        <p:spPr>
          <a:xfrm>
            <a:off x="845127" y="4004468"/>
            <a:ext cx="35531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class_name</a:t>
            </a:r>
            <a:r>
              <a:rPr lang="en-US" dirty="0"/>
              <a:t> </a:t>
            </a:r>
            <a:r>
              <a:rPr lang="en-US" b="1" dirty="0">
                <a:highlight>
                  <a:srgbClr val="00FFFF"/>
                </a:highlight>
              </a:rPr>
              <a:t>object_name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>
                <a:highlight>
                  <a:srgbClr val="00FFFF"/>
                </a:highlight>
              </a:rPr>
              <a:t>object_name</a:t>
            </a:r>
            <a:r>
              <a:rPr lang="en-US" dirty="0">
                <a:highlight>
                  <a:srgbClr val="FF00FF"/>
                </a:highlight>
              </a:rPr>
              <a:t>.</a:t>
            </a:r>
            <a:r>
              <a:rPr lang="en-US" dirty="0">
                <a:highlight>
                  <a:srgbClr val="00FF00"/>
                </a:highlight>
              </a:rPr>
              <a:t>class_members;</a:t>
            </a:r>
          </a:p>
        </p:txBody>
      </p:sp>
    </p:spTree>
    <p:extLst>
      <p:ext uri="{BB962C8B-B14F-4D97-AF65-F5344CB8AC3E}">
        <p14:creationId xmlns:p14="http://schemas.microsoft.com/office/powerpoint/2010/main" val="3056162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000"/>
    </mc:Choice>
    <mc:Fallback xmlns="">
      <p:transition spd="slow" advTm="8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45C6B5-D970-D6C6-8FAB-79B2B350F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صورة 9" descr="صورة تحتوي على نص, برمجيات, أيقونة الحاسوب, صفحة ويب&#10;&#10;قد يكون المحتوى المعد بواسطة الذكاء الاصطناعي غير صحيح.">
            <a:extLst>
              <a:ext uri="{FF2B5EF4-FFF2-40B4-BE49-F238E27FC236}">
                <a16:creationId xmlns:a16="http://schemas.microsoft.com/office/drawing/2014/main" id="{60C06775-4821-892B-709F-49C017B128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5881"/>
            <a:ext cx="12192000" cy="6426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127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6D098A-4659-04E3-DDDB-E78E31AAE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20DED4F3-726F-B660-AFCC-D5B899FB2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622A62"/>
                </a:solidFill>
                <a:latin typeface="Readex Pro"/>
              </a:rPr>
              <a:t>Defining Member Functions</a:t>
            </a:r>
            <a:br>
              <a:rPr lang="en-US" dirty="0"/>
            </a:br>
            <a:r>
              <a:rPr lang="en-US" sz="2800" dirty="0">
                <a:solidFill>
                  <a:srgbClr val="622A62"/>
                </a:solidFill>
                <a:latin typeface="Readex Pro"/>
              </a:rPr>
              <a:t>Inside the class (Inline functions)</a:t>
            </a:r>
            <a:endParaRPr lang="en-US" dirty="0">
              <a:solidFill>
                <a:srgbClr val="622A62"/>
              </a:solidFill>
              <a:latin typeface="Readex Pro"/>
            </a:endParaRP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45639336-BA01-66EB-6417-3F38DC7E15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Low">
              <a:lnSpc>
                <a:spcPct val="100000"/>
              </a:lnSpc>
            </a:pPr>
            <a:r>
              <a:rPr lang="en-US" dirty="0"/>
              <a:t>Both member functions are defined inside the </a:t>
            </a:r>
            <a:r>
              <a:rPr lang="en-US" dirty="0">
                <a:highlight>
                  <a:srgbClr val="FFFF00"/>
                </a:highlight>
              </a:rPr>
              <a:t>class</a:t>
            </a:r>
            <a:r>
              <a:rPr lang="en-US" dirty="0"/>
              <a:t> itself, making them </a:t>
            </a:r>
            <a:r>
              <a:rPr lang="en-US" dirty="0">
                <a:highlight>
                  <a:srgbClr val="00FF00"/>
                </a:highlight>
              </a:rPr>
              <a:t>inline functions</a:t>
            </a:r>
            <a:r>
              <a:rPr lang="en-US" dirty="0"/>
              <a:t>.</a:t>
            </a:r>
            <a:endParaRPr lang="en-US" sz="2800" dirty="0"/>
          </a:p>
          <a:p>
            <a:pPr algn="r" rtl="1">
              <a:lnSpc>
                <a:spcPct val="100000"/>
              </a:lnSpc>
            </a:pPr>
            <a:r>
              <a:rPr lang="ar-IQ" sz="2000" i="1" dirty="0">
                <a:solidFill>
                  <a:schemeClr val="bg1">
                    <a:lumMod val="50000"/>
                  </a:schemeClr>
                </a:solidFill>
              </a:rPr>
              <a:t>يتم تعريف كلتا الدالتين الاعضاء داخل الكلاس نفسه، مما يجعلهما دالتين مضمنتين.</a:t>
            </a:r>
            <a:endParaRPr lang="en-US" sz="2000" i="1" dirty="0">
              <a:solidFill>
                <a:schemeClr val="bg1">
                  <a:lumMod val="50000"/>
                </a:schemeClr>
              </a:solidFill>
            </a:endParaRPr>
          </a:p>
          <a:p>
            <a:pPr algn="r" rtl="1">
              <a:lnSpc>
                <a:spcPct val="100000"/>
              </a:lnSpc>
            </a:pPr>
            <a:endParaRPr lang="en-US" sz="2000" i="1" dirty="0">
              <a:solidFill>
                <a:schemeClr val="bg1">
                  <a:lumMod val="50000"/>
                </a:schemeClr>
              </a:solidFill>
            </a:endParaRPr>
          </a:p>
          <a:p>
            <a:pPr algn="r" rtl="1">
              <a:lnSpc>
                <a:spcPct val="100000"/>
              </a:lnSpc>
            </a:pPr>
            <a:endParaRPr lang="en-US" sz="2000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مربع نص 4">
            <a:extLst>
              <a:ext uri="{FF2B5EF4-FFF2-40B4-BE49-F238E27FC236}">
                <a16:creationId xmlns:a16="http://schemas.microsoft.com/office/drawing/2014/main" id="{59646F96-C25A-4F92-6948-E76D7630BED7}"/>
              </a:ext>
            </a:extLst>
          </p:cNvPr>
          <p:cNvSpPr txBox="1"/>
          <p:nvPr/>
        </p:nvSpPr>
        <p:spPr>
          <a:xfrm>
            <a:off x="1091381" y="4188542"/>
            <a:ext cx="476372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class cars</a:t>
            </a:r>
            <a:r>
              <a:rPr lang="en-US" dirty="0"/>
              <a:t> {</a:t>
            </a:r>
          </a:p>
          <a:p>
            <a:r>
              <a:rPr lang="en-US" dirty="0"/>
              <a:t>Public:</a:t>
            </a:r>
          </a:p>
          <a:p>
            <a:endParaRPr lang="en-US" dirty="0"/>
          </a:p>
          <a:p>
            <a:r>
              <a:rPr lang="en-US" dirty="0">
                <a:highlight>
                  <a:srgbClr val="00FF00"/>
                </a:highlight>
              </a:rPr>
              <a:t>void setName(string n) {}</a:t>
            </a:r>
          </a:p>
          <a:p>
            <a:endParaRPr lang="en-US" dirty="0">
              <a:highlight>
                <a:srgbClr val="00FF00"/>
              </a:highlight>
            </a:endParaRPr>
          </a:p>
          <a:p>
            <a:r>
              <a:rPr lang="en-US" dirty="0">
                <a:highlight>
                  <a:srgbClr val="00FF00"/>
                </a:highlight>
              </a:rPr>
              <a:t>Int setPrice(int p) {}</a:t>
            </a:r>
          </a:p>
          <a:p>
            <a:endParaRPr lang="en-US" dirty="0"/>
          </a:p>
          <a:p>
            <a:r>
              <a:rPr lang="en-US" dirty="0"/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202267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000"/>
    </mc:Choice>
    <mc:Fallback xmlns="">
      <p:transition spd="slow" advTm="8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A6C76-9877-7399-B6A0-0CDA9FB35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صورة 4" descr="صورة تحتوي على نص, لقطة شاشة, برمجيات, أيقونة الحاسوب&#10;&#10;قد يكون المحتوى المعد بواسطة الذكاء الاصطناعي غير صحيح.">
            <a:extLst>
              <a:ext uri="{FF2B5EF4-FFF2-40B4-BE49-F238E27FC236}">
                <a16:creationId xmlns:a16="http://schemas.microsoft.com/office/drawing/2014/main" id="{35C80E79-B5B9-7CF0-BE52-232DBA3910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5881"/>
            <a:ext cx="12192000" cy="6426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930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89450C-45FC-51FA-EE67-1D9968592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CDD5A3FE-8FB2-F938-0C1A-8CD8EB514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622A62"/>
                </a:solidFill>
                <a:latin typeface="Readex Pro"/>
              </a:rPr>
              <a:t>Defining Member Functions</a:t>
            </a:r>
            <a:br>
              <a:rPr lang="en-US" b="1" dirty="0">
                <a:solidFill>
                  <a:srgbClr val="622A62"/>
                </a:solidFill>
                <a:latin typeface="Readex Pro"/>
              </a:rPr>
            </a:br>
            <a:r>
              <a:rPr lang="en-US" sz="2800" dirty="0">
                <a:solidFill>
                  <a:srgbClr val="622A62"/>
                </a:solidFill>
                <a:latin typeface="Readex Pro"/>
              </a:rPr>
              <a:t>Outside the class (Using scope resolution)</a:t>
            </a:r>
            <a:endParaRPr lang="en-US" dirty="0">
              <a:solidFill>
                <a:srgbClr val="622A62"/>
              </a:solidFill>
              <a:latin typeface="Readex Pro"/>
            </a:endParaRP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0396FD7F-09F4-4F7C-7549-83D917EE6D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Low">
              <a:lnSpc>
                <a:spcPct val="100000"/>
              </a:lnSpc>
            </a:pPr>
            <a:r>
              <a:rPr lang="en-US" sz="2000" dirty="0"/>
              <a:t> Functions  are  defined  outside  the </a:t>
            </a:r>
            <a:r>
              <a:rPr lang="en-US" sz="2000" dirty="0">
                <a:highlight>
                  <a:srgbClr val="FFFF00"/>
                </a:highlight>
              </a:rPr>
              <a:t>class</a:t>
            </a:r>
            <a:r>
              <a:rPr lang="en-US" sz="2000" dirty="0"/>
              <a:t>  using  the  </a:t>
            </a:r>
            <a:r>
              <a:rPr lang="en-US" sz="2000" dirty="0">
                <a:highlight>
                  <a:srgbClr val="00FFFF"/>
                </a:highlight>
              </a:rPr>
              <a:t>scope  resolution  operator (::)</a:t>
            </a:r>
            <a:r>
              <a:rPr lang="en-US" sz="2000" dirty="0"/>
              <a:t>. </a:t>
            </a:r>
            <a:endParaRPr lang="en-US" sz="2800" dirty="0"/>
          </a:p>
          <a:p>
            <a:pPr algn="r" rtl="1">
              <a:lnSpc>
                <a:spcPct val="100000"/>
              </a:lnSpc>
            </a:pPr>
            <a:r>
              <a:rPr lang="ar-IQ" sz="1800" i="1" dirty="0">
                <a:solidFill>
                  <a:schemeClr val="bg1">
                    <a:lumMod val="50000"/>
                  </a:schemeClr>
                </a:solidFill>
              </a:rPr>
              <a:t>يتم تعريف الدوال خارج الكلاس باستخدام عامل حل النطاق (::)</a:t>
            </a:r>
            <a:r>
              <a:rPr lang="en-US" sz="1800" i="1" dirty="0">
                <a:solidFill>
                  <a:schemeClr val="bg1">
                    <a:lumMod val="50000"/>
                  </a:schemeClr>
                </a:solidFill>
              </a:rPr>
              <a:t>.</a:t>
            </a:r>
          </a:p>
          <a:p>
            <a:pPr algn="r" rtl="1">
              <a:lnSpc>
                <a:spcPct val="100000"/>
              </a:lnSpc>
            </a:pPr>
            <a:endParaRPr lang="en-US" sz="2000" i="1" dirty="0">
              <a:solidFill>
                <a:schemeClr val="bg1">
                  <a:lumMod val="50000"/>
                </a:schemeClr>
              </a:solidFill>
            </a:endParaRPr>
          </a:p>
          <a:p>
            <a:pPr algn="justLow">
              <a:lnSpc>
                <a:spcPct val="100000"/>
              </a:lnSpc>
            </a:pPr>
            <a:r>
              <a:rPr lang="en-US" sz="2000" dirty="0"/>
              <a:t>  This  is  useful  when  you  want  to  keep  the  </a:t>
            </a:r>
            <a:r>
              <a:rPr lang="en-US" sz="2000" dirty="0">
                <a:highlight>
                  <a:srgbClr val="FFFF00"/>
                </a:highlight>
              </a:rPr>
              <a:t>class</a:t>
            </a:r>
            <a:r>
              <a:rPr lang="en-US" sz="2000" dirty="0"/>
              <a:t>  definition  clean, especially  for  large  </a:t>
            </a:r>
            <a:r>
              <a:rPr lang="en-US" sz="2000" dirty="0">
                <a:highlight>
                  <a:srgbClr val="00FF00"/>
                </a:highlight>
              </a:rPr>
              <a:t>functions</a:t>
            </a:r>
            <a:r>
              <a:rPr lang="en-US" sz="2000" dirty="0"/>
              <a:t>.</a:t>
            </a:r>
            <a:endParaRPr lang="en-US" dirty="0"/>
          </a:p>
          <a:p>
            <a:pPr algn="r" rtl="1">
              <a:lnSpc>
                <a:spcPct val="100000"/>
              </a:lnSpc>
            </a:pPr>
            <a:r>
              <a:rPr lang="ar-IQ" sz="1800" i="1" dirty="0">
                <a:solidFill>
                  <a:schemeClr val="bg1">
                    <a:lumMod val="50000"/>
                  </a:schemeClr>
                </a:solidFill>
              </a:rPr>
              <a:t>يُعد هذا مفيدًا عندما تريد الحفاظ على تعريف الكلاس نظيفًا، وخاصةً بالنسبة للدوال الكبيرة</a:t>
            </a:r>
            <a:r>
              <a:rPr lang="en-US" sz="1800" i="1" dirty="0">
                <a:solidFill>
                  <a:schemeClr val="bg1">
                    <a:lumMod val="50000"/>
                  </a:schemeClr>
                </a:solidFill>
              </a:rPr>
              <a:t>.</a:t>
            </a:r>
          </a:p>
          <a:p>
            <a:pPr algn="r" rtl="1">
              <a:lnSpc>
                <a:spcPct val="100000"/>
              </a:lnSpc>
            </a:pPr>
            <a:endParaRPr lang="en-US" sz="1600" i="1" dirty="0">
              <a:solidFill>
                <a:schemeClr val="bg1">
                  <a:lumMod val="50000"/>
                </a:schemeClr>
              </a:solidFill>
            </a:endParaRPr>
          </a:p>
          <a:p>
            <a:pPr algn="r" rtl="1">
              <a:lnSpc>
                <a:spcPct val="100000"/>
              </a:lnSpc>
            </a:pPr>
            <a:endParaRPr lang="en-US" sz="1600" i="1" dirty="0">
              <a:solidFill>
                <a:schemeClr val="bg1">
                  <a:lumMod val="50000"/>
                </a:schemeClr>
              </a:solidFill>
            </a:endParaRPr>
          </a:p>
          <a:p>
            <a:pPr algn="r" rtl="1">
              <a:lnSpc>
                <a:spcPct val="100000"/>
              </a:lnSpc>
            </a:pPr>
            <a:endParaRPr lang="en-US" sz="1600" i="1" dirty="0">
              <a:solidFill>
                <a:schemeClr val="bg1">
                  <a:lumMod val="50000"/>
                </a:schemeClr>
              </a:solidFill>
            </a:endParaRPr>
          </a:p>
          <a:p>
            <a:pPr algn="r" rtl="1">
              <a:lnSpc>
                <a:spcPct val="100000"/>
              </a:lnSpc>
            </a:pPr>
            <a:endParaRPr lang="en-US" sz="2000" i="1" dirty="0">
              <a:solidFill>
                <a:schemeClr val="bg1">
                  <a:lumMod val="50000"/>
                </a:schemeClr>
              </a:solidFill>
            </a:endParaRPr>
          </a:p>
          <a:p>
            <a:pPr algn="r" rtl="1">
              <a:lnSpc>
                <a:spcPct val="100000"/>
              </a:lnSpc>
            </a:pPr>
            <a:endParaRPr lang="en-US" sz="2000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مربع نص 4">
            <a:extLst>
              <a:ext uri="{FF2B5EF4-FFF2-40B4-BE49-F238E27FC236}">
                <a16:creationId xmlns:a16="http://schemas.microsoft.com/office/drawing/2014/main" id="{EE963B06-E574-B939-D75A-1A5F6D569240}"/>
              </a:ext>
            </a:extLst>
          </p:cNvPr>
          <p:cNvSpPr txBox="1"/>
          <p:nvPr/>
        </p:nvSpPr>
        <p:spPr>
          <a:xfrm>
            <a:off x="845127" y="4922580"/>
            <a:ext cx="290809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highlight>
                  <a:srgbClr val="FFFF00"/>
                </a:highlight>
              </a:rPr>
              <a:t>class cars</a:t>
            </a:r>
            <a:r>
              <a:rPr lang="en-US" sz="1200" dirty="0"/>
              <a:t> {</a:t>
            </a:r>
          </a:p>
          <a:p>
            <a:r>
              <a:rPr lang="en-US" sz="1200" dirty="0"/>
              <a:t>Public:</a:t>
            </a:r>
          </a:p>
          <a:p>
            <a:endParaRPr lang="en-US" sz="1200" dirty="0"/>
          </a:p>
          <a:p>
            <a:r>
              <a:rPr lang="en-US" sz="1200" dirty="0">
                <a:highlight>
                  <a:srgbClr val="00FF00"/>
                </a:highlight>
              </a:rPr>
              <a:t>void setName(string n) {}</a:t>
            </a:r>
          </a:p>
          <a:p>
            <a:endParaRPr lang="en-US" sz="1200" dirty="0">
              <a:highlight>
                <a:srgbClr val="00FF00"/>
              </a:highlight>
            </a:endParaRPr>
          </a:p>
          <a:p>
            <a:r>
              <a:rPr lang="en-US" sz="1200" dirty="0">
                <a:highlight>
                  <a:srgbClr val="00FF00"/>
                </a:highlight>
              </a:rPr>
              <a:t>Int setPrice(int p) {}</a:t>
            </a:r>
          </a:p>
          <a:p>
            <a:endParaRPr lang="en-US" sz="1200" dirty="0"/>
          </a:p>
          <a:p>
            <a:r>
              <a:rPr lang="en-US" sz="1200" dirty="0"/>
              <a:t>};</a:t>
            </a:r>
          </a:p>
        </p:txBody>
      </p:sp>
      <p:sp>
        <p:nvSpPr>
          <p:cNvPr id="4" name="مربع نص 3">
            <a:extLst>
              <a:ext uri="{FF2B5EF4-FFF2-40B4-BE49-F238E27FC236}">
                <a16:creationId xmlns:a16="http://schemas.microsoft.com/office/drawing/2014/main" id="{DB7730D9-0EC3-2413-E5F7-607B318A5A4F}"/>
              </a:ext>
            </a:extLst>
          </p:cNvPr>
          <p:cNvSpPr txBox="1"/>
          <p:nvPr/>
        </p:nvSpPr>
        <p:spPr>
          <a:xfrm>
            <a:off x="2702937" y="5384244"/>
            <a:ext cx="33007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void </a:t>
            </a:r>
            <a:r>
              <a:rPr lang="en-US" sz="1200" dirty="0">
                <a:highlight>
                  <a:srgbClr val="FFFF00"/>
                </a:highlight>
              </a:rPr>
              <a:t>cars</a:t>
            </a:r>
            <a:r>
              <a:rPr lang="en-US" sz="1200" dirty="0">
                <a:highlight>
                  <a:srgbClr val="00FFFF"/>
                </a:highlight>
              </a:rPr>
              <a:t>::</a:t>
            </a:r>
            <a:r>
              <a:rPr lang="en-US" sz="1200" dirty="0">
                <a:highlight>
                  <a:srgbClr val="00FF00"/>
                </a:highlight>
              </a:rPr>
              <a:t>setName</a:t>
            </a:r>
            <a:r>
              <a:rPr lang="en-US" sz="1200" dirty="0"/>
              <a:t>(string n){</a:t>
            </a:r>
          </a:p>
          <a:p>
            <a:r>
              <a:rPr lang="en-US" sz="1200" dirty="0"/>
              <a:t>// code</a:t>
            </a:r>
          </a:p>
          <a:p>
            <a:r>
              <a:rPr lang="en-US" sz="12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21043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000"/>
    </mc:Choice>
    <mc:Fallback xmlns="">
      <p:transition spd="slow" advTm="800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FBCDE-D171-2468-6A0D-9A6EAF883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 descr="صورة تحتوي على نص, برمجيات, صفحة ويب, أيقونة الحاسوب&#10;&#10;قد يكون المحتوى المعد بواسطة الذكاء الاصطناعي غير صحيح.">
            <a:extLst>
              <a:ext uri="{FF2B5EF4-FFF2-40B4-BE49-F238E27FC236}">
                <a16:creationId xmlns:a16="http://schemas.microsoft.com/office/drawing/2014/main" id="{0BCC2F68-80F1-CFAC-E975-D08AC009A5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5881"/>
            <a:ext cx="12192000" cy="6426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341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1DB12-A401-7921-40BC-EFEACEA78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9911BFB9-E4DC-115E-0DAB-C9D1B6EB0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622A62"/>
                </a:solidFill>
                <a:latin typeface="Readex Pro"/>
              </a:rPr>
              <a:t>Object as Function Arguments</a:t>
            </a:r>
            <a:br>
              <a:rPr lang="en-US" dirty="0"/>
            </a:br>
            <a:r>
              <a:rPr lang="en-US" sz="2800" dirty="0">
                <a:solidFill>
                  <a:srgbClr val="622A62"/>
                </a:solidFill>
                <a:latin typeface="Readex Pro"/>
              </a:rPr>
              <a:t>By Value</a:t>
            </a:r>
            <a:endParaRPr lang="en-US" dirty="0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BA4A416F-EDD4-CA5D-D68F-4EAFEAA524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Low">
              <a:lnSpc>
                <a:spcPct val="100000"/>
              </a:lnSpc>
            </a:pPr>
            <a:r>
              <a:rPr lang="en-US" sz="2000" dirty="0"/>
              <a:t>The </a:t>
            </a:r>
            <a:r>
              <a:rPr lang="en-US" sz="2000" dirty="0">
                <a:highlight>
                  <a:srgbClr val="FF00FF"/>
                </a:highlight>
              </a:rPr>
              <a:t>function</a:t>
            </a:r>
            <a:r>
              <a:rPr lang="en-US" sz="2000" dirty="0"/>
              <a:t> receives </a:t>
            </a:r>
            <a:r>
              <a:rPr lang="en-US" sz="2000" dirty="0">
                <a:highlight>
                  <a:srgbClr val="00FFFF"/>
                </a:highlight>
              </a:rPr>
              <a:t>a copy of the object</a:t>
            </a:r>
            <a:r>
              <a:rPr lang="en-US" sz="2000" dirty="0"/>
              <a:t>, so changes made inside the </a:t>
            </a:r>
            <a:r>
              <a:rPr lang="en-US" sz="2000" dirty="0">
                <a:highlight>
                  <a:srgbClr val="FF00FF"/>
                </a:highlight>
              </a:rPr>
              <a:t>function</a:t>
            </a:r>
            <a:r>
              <a:rPr lang="en-US" sz="2000" dirty="0"/>
              <a:t> do not affect the </a:t>
            </a:r>
            <a:r>
              <a:rPr lang="en-US" sz="2000" dirty="0">
                <a:highlight>
                  <a:srgbClr val="FFFF00"/>
                </a:highlight>
              </a:rPr>
              <a:t>original object</a:t>
            </a:r>
            <a:endParaRPr lang="en-US" sz="2800" dirty="0">
              <a:highlight>
                <a:srgbClr val="FFFF00"/>
              </a:highlight>
            </a:endParaRPr>
          </a:p>
          <a:p>
            <a:pPr algn="r" rtl="1">
              <a:lnSpc>
                <a:spcPct val="100000"/>
              </a:lnSpc>
            </a:pPr>
            <a:r>
              <a:rPr lang="ar-IQ" sz="1800" i="1" dirty="0">
                <a:solidFill>
                  <a:schemeClr val="bg1">
                    <a:lumMod val="50000"/>
                  </a:schemeClr>
                </a:solidFill>
              </a:rPr>
              <a:t>تتلقى الدالة نسخة من الكائن، وبالتالي فإن التغييرات التي يتم إجراؤها داخل الدالة لا تؤثر على الكائن الأصلي</a:t>
            </a:r>
            <a:endParaRPr lang="en-US" sz="2000" i="1" dirty="0">
              <a:solidFill>
                <a:schemeClr val="bg1">
                  <a:lumMod val="50000"/>
                </a:schemeClr>
              </a:solidFill>
            </a:endParaRPr>
          </a:p>
          <a:p>
            <a:pPr algn="r" rtl="1">
              <a:lnSpc>
                <a:spcPct val="100000"/>
              </a:lnSpc>
            </a:pPr>
            <a:endParaRPr lang="en-US" sz="1600" i="1" dirty="0">
              <a:solidFill>
                <a:schemeClr val="bg1">
                  <a:lumMod val="50000"/>
                </a:schemeClr>
              </a:solidFill>
            </a:endParaRPr>
          </a:p>
          <a:p>
            <a:pPr algn="r" rtl="1">
              <a:lnSpc>
                <a:spcPct val="100000"/>
              </a:lnSpc>
            </a:pPr>
            <a:endParaRPr lang="en-US" sz="1600" i="1" dirty="0">
              <a:solidFill>
                <a:schemeClr val="bg1">
                  <a:lumMod val="50000"/>
                </a:schemeClr>
              </a:solidFill>
            </a:endParaRPr>
          </a:p>
          <a:p>
            <a:pPr algn="r" rtl="1">
              <a:lnSpc>
                <a:spcPct val="100000"/>
              </a:lnSpc>
            </a:pPr>
            <a:endParaRPr lang="en-US" sz="1600" i="1" dirty="0">
              <a:solidFill>
                <a:schemeClr val="bg1">
                  <a:lumMod val="50000"/>
                </a:schemeClr>
              </a:solidFill>
            </a:endParaRPr>
          </a:p>
          <a:p>
            <a:pPr algn="r" rtl="1">
              <a:lnSpc>
                <a:spcPct val="100000"/>
              </a:lnSpc>
            </a:pPr>
            <a:endParaRPr lang="en-US" sz="2000" i="1" dirty="0">
              <a:solidFill>
                <a:schemeClr val="bg1">
                  <a:lumMod val="50000"/>
                </a:schemeClr>
              </a:solidFill>
            </a:endParaRPr>
          </a:p>
          <a:p>
            <a:pPr algn="r" rtl="1">
              <a:lnSpc>
                <a:spcPct val="100000"/>
              </a:lnSpc>
            </a:pPr>
            <a:endParaRPr lang="en-US" sz="2000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مربع نص 4">
            <a:extLst>
              <a:ext uri="{FF2B5EF4-FFF2-40B4-BE49-F238E27FC236}">
                <a16:creationId xmlns:a16="http://schemas.microsoft.com/office/drawing/2014/main" id="{0D161CAC-2BFA-1654-E010-53A6736D93B8}"/>
              </a:ext>
            </a:extLst>
          </p:cNvPr>
          <p:cNvSpPr txBox="1"/>
          <p:nvPr/>
        </p:nvSpPr>
        <p:spPr>
          <a:xfrm>
            <a:off x="845126" y="3942413"/>
            <a:ext cx="3726873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class Cars {</a:t>
            </a:r>
          </a:p>
          <a:p>
            <a:r>
              <a:rPr lang="en-US" sz="1600" dirty="0"/>
              <a:t>Public:</a:t>
            </a:r>
          </a:p>
          <a:p>
            <a:r>
              <a:rPr lang="en-US" sz="1600" dirty="0"/>
              <a:t>string t;</a:t>
            </a:r>
          </a:p>
          <a:p>
            <a:r>
              <a:rPr lang="en-US" sz="1600" dirty="0"/>
              <a:t>void display() { cout&lt;&lt;t; }</a:t>
            </a:r>
          </a:p>
          <a:p>
            <a:endParaRPr lang="en-US" sz="1600" dirty="0"/>
          </a:p>
          <a:p>
            <a:r>
              <a:rPr lang="en-US" sz="1600" dirty="0"/>
              <a:t>};</a:t>
            </a:r>
          </a:p>
          <a:p>
            <a:endParaRPr lang="en-US" sz="1600" dirty="0"/>
          </a:p>
          <a:p>
            <a:r>
              <a:rPr lang="en-US" sz="1600" dirty="0"/>
              <a:t>void </a:t>
            </a:r>
            <a:r>
              <a:rPr lang="en-US" sz="1600" dirty="0">
                <a:highlight>
                  <a:srgbClr val="FF00FF"/>
                </a:highlight>
              </a:rPr>
              <a:t>print</a:t>
            </a:r>
            <a:r>
              <a:rPr lang="en-US" sz="1600" dirty="0"/>
              <a:t> (</a:t>
            </a:r>
            <a:r>
              <a:rPr lang="en-US" sz="1600" dirty="0">
                <a:highlight>
                  <a:srgbClr val="00FFFF"/>
                </a:highlight>
              </a:rPr>
              <a:t>Cars</a:t>
            </a:r>
            <a:r>
              <a:rPr lang="en-US" sz="1600" dirty="0"/>
              <a:t> </a:t>
            </a:r>
            <a:r>
              <a:rPr lang="en-US" sz="1600" dirty="0">
                <a:highlight>
                  <a:srgbClr val="00FFFF"/>
                </a:highlight>
              </a:rPr>
              <a:t>c</a:t>
            </a:r>
            <a:r>
              <a:rPr lang="en-US" sz="1600" dirty="0"/>
              <a:t>) {</a:t>
            </a:r>
          </a:p>
          <a:p>
            <a:r>
              <a:rPr lang="en-US" sz="1600" dirty="0"/>
              <a:t>c.t=“Kia”;</a:t>
            </a:r>
          </a:p>
          <a:p>
            <a:r>
              <a:rPr lang="en-US" sz="1600" dirty="0"/>
              <a:t>c.display();</a:t>
            </a:r>
          </a:p>
          <a:p>
            <a:r>
              <a:rPr lang="en-US" sz="1600" dirty="0"/>
              <a:t>}</a:t>
            </a:r>
          </a:p>
        </p:txBody>
      </p:sp>
      <p:sp>
        <p:nvSpPr>
          <p:cNvPr id="6" name="مربع نص 5">
            <a:extLst>
              <a:ext uri="{FF2B5EF4-FFF2-40B4-BE49-F238E27FC236}">
                <a16:creationId xmlns:a16="http://schemas.microsoft.com/office/drawing/2014/main" id="{4F47A091-92C9-0BC7-D3A7-EF10F8665D84}"/>
              </a:ext>
            </a:extLst>
          </p:cNvPr>
          <p:cNvSpPr txBox="1"/>
          <p:nvPr/>
        </p:nvSpPr>
        <p:spPr>
          <a:xfrm>
            <a:off x="3575835" y="3942412"/>
            <a:ext cx="372687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int main() {</a:t>
            </a:r>
          </a:p>
          <a:p>
            <a:r>
              <a:rPr lang="en-US" sz="1600" dirty="0">
                <a:highlight>
                  <a:srgbClr val="FFFF00"/>
                </a:highlight>
              </a:rPr>
              <a:t>Cars car1;</a:t>
            </a:r>
          </a:p>
          <a:p>
            <a:r>
              <a:rPr lang="en-US" sz="1600" dirty="0"/>
              <a:t>Car1.t=“BMW”;</a:t>
            </a:r>
          </a:p>
          <a:p>
            <a:r>
              <a:rPr lang="en-US" sz="1600" dirty="0"/>
              <a:t>car1.display();</a:t>
            </a:r>
          </a:p>
          <a:p>
            <a:r>
              <a:rPr lang="en-US" sz="16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67195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000"/>
    </mc:Choice>
    <mc:Fallback xmlns="">
      <p:transition spd="slow" advTm="800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7C6C1-EAD6-4E7A-7645-E2930E225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صورة 5" descr="صورة تحتوي على نص, لقطة شاشة, برمجيات, أيقونة الحاسوب&#10;&#10;قد يكون المحتوى المعد بواسطة الذكاء الاصطناعي غير صحيح.">
            <a:extLst>
              <a:ext uri="{FF2B5EF4-FFF2-40B4-BE49-F238E27FC236}">
                <a16:creationId xmlns:a16="http://schemas.microsoft.com/office/drawing/2014/main" id="{D7C724FC-6FFC-DFA1-4AA4-2EB5825860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5881"/>
            <a:ext cx="12192000" cy="6426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15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13ABA8-09C5-1028-908F-C060EC86C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F5B5FBF6-10A1-ED7D-D4F7-ADA062AAA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622A62"/>
                </a:solidFill>
                <a:latin typeface="Readex Pro"/>
              </a:rPr>
              <a:t>Object as Function Arguments</a:t>
            </a:r>
            <a:br>
              <a:rPr lang="en-US" dirty="0"/>
            </a:br>
            <a:r>
              <a:rPr lang="en-US" sz="2800" dirty="0">
                <a:solidFill>
                  <a:srgbClr val="622A62"/>
                </a:solidFill>
                <a:latin typeface="Readex Pro"/>
              </a:rPr>
              <a:t>By Reference</a:t>
            </a:r>
            <a:endParaRPr lang="en-US" sz="2400" dirty="0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3930BDA9-946C-CE32-1AA2-2C641079F4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Low">
              <a:lnSpc>
                <a:spcPct val="100000"/>
              </a:lnSpc>
            </a:pPr>
            <a:r>
              <a:rPr lang="en-US" sz="2000" dirty="0"/>
              <a:t>The </a:t>
            </a:r>
            <a:r>
              <a:rPr lang="en-US" sz="2000" dirty="0">
                <a:highlight>
                  <a:srgbClr val="00FFFF"/>
                </a:highlight>
              </a:rPr>
              <a:t>Object</a:t>
            </a:r>
            <a:r>
              <a:rPr lang="en-US" sz="2000" dirty="0"/>
              <a:t> is passed by </a:t>
            </a:r>
            <a:r>
              <a:rPr lang="en-US" sz="2000" dirty="0">
                <a:highlight>
                  <a:srgbClr val="FF0000"/>
                </a:highlight>
              </a:rPr>
              <a:t>reference</a:t>
            </a:r>
            <a:r>
              <a:rPr lang="en-US" sz="2000" dirty="0"/>
              <a:t>. Any changes made inside the </a:t>
            </a:r>
            <a:r>
              <a:rPr lang="en-US" sz="2000" dirty="0">
                <a:highlight>
                  <a:srgbClr val="FF00FF"/>
                </a:highlight>
              </a:rPr>
              <a:t>function</a:t>
            </a:r>
            <a:r>
              <a:rPr lang="en-US" sz="2000" dirty="0"/>
              <a:t> affect the </a:t>
            </a:r>
            <a:r>
              <a:rPr lang="en-US" sz="2000" dirty="0">
                <a:highlight>
                  <a:srgbClr val="FFFF00"/>
                </a:highlight>
              </a:rPr>
              <a:t>original object</a:t>
            </a:r>
            <a:r>
              <a:rPr lang="en-US" sz="2000" dirty="0"/>
              <a:t>, as demonstrated by the change in the title.</a:t>
            </a:r>
          </a:p>
          <a:p>
            <a:pPr algn="r" rtl="1">
              <a:lnSpc>
                <a:spcPct val="100000"/>
              </a:lnSpc>
            </a:pPr>
            <a:r>
              <a:rPr lang="ar-IQ" sz="1800" i="1" dirty="0">
                <a:solidFill>
                  <a:schemeClr val="bg1">
                    <a:lumMod val="50000"/>
                  </a:schemeClr>
                </a:solidFill>
              </a:rPr>
              <a:t>يتم تمرير الـ</a:t>
            </a:r>
            <a:r>
              <a:rPr lang="en-US" sz="1800" i="1" dirty="0">
                <a:solidFill>
                  <a:schemeClr val="bg1">
                    <a:lumMod val="50000"/>
                  </a:schemeClr>
                </a:solidFill>
              </a:rPr>
              <a:t>object</a:t>
            </a:r>
            <a:r>
              <a:rPr lang="ar-IQ" sz="1800" i="1" dirty="0">
                <a:solidFill>
                  <a:schemeClr val="bg1">
                    <a:lumMod val="50000"/>
                  </a:schemeClr>
                </a:solidFill>
              </a:rPr>
              <a:t> بواسطة </a:t>
            </a:r>
            <a:r>
              <a:rPr lang="en-US" sz="1800" i="1" dirty="0">
                <a:solidFill>
                  <a:schemeClr val="bg1">
                    <a:lumMod val="50000"/>
                  </a:schemeClr>
                </a:solidFill>
              </a:rPr>
              <a:t>reference</a:t>
            </a:r>
            <a:r>
              <a:rPr lang="ar-IQ" sz="1800" i="1" dirty="0">
                <a:solidFill>
                  <a:schemeClr val="bg1">
                    <a:lumMod val="50000"/>
                  </a:schemeClr>
                </a:solidFill>
              </a:rPr>
              <a:t>. أي تغييرات تُجرى داخل الدالة تؤثر على الـ</a:t>
            </a:r>
            <a:r>
              <a:rPr lang="en-US" sz="1800" i="1" dirty="0">
                <a:solidFill>
                  <a:schemeClr val="bg1">
                    <a:lumMod val="50000"/>
                  </a:schemeClr>
                </a:solidFill>
              </a:rPr>
              <a:t>object</a:t>
            </a:r>
            <a:r>
              <a:rPr lang="ar-IQ" sz="1800" i="1" dirty="0">
                <a:solidFill>
                  <a:schemeClr val="bg1">
                    <a:lumMod val="50000"/>
                  </a:schemeClr>
                </a:solidFill>
              </a:rPr>
              <a:t> الأصلي</a:t>
            </a:r>
            <a:r>
              <a:rPr lang="en-US" sz="1800" i="1" dirty="0">
                <a:solidFill>
                  <a:schemeClr val="bg1">
                    <a:lumMod val="50000"/>
                  </a:schemeClr>
                </a:solidFill>
              </a:rPr>
              <a:t>.</a:t>
            </a:r>
            <a:endParaRPr lang="en-US" sz="2000" i="1" dirty="0">
              <a:solidFill>
                <a:schemeClr val="bg1">
                  <a:lumMod val="50000"/>
                </a:schemeClr>
              </a:solidFill>
            </a:endParaRPr>
          </a:p>
          <a:p>
            <a:pPr algn="r" rtl="1">
              <a:lnSpc>
                <a:spcPct val="100000"/>
              </a:lnSpc>
            </a:pPr>
            <a:endParaRPr lang="en-US" sz="1600" i="1" dirty="0">
              <a:solidFill>
                <a:schemeClr val="bg1">
                  <a:lumMod val="50000"/>
                </a:schemeClr>
              </a:solidFill>
            </a:endParaRPr>
          </a:p>
          <a:p>
            <a:pPr algn="r" rtl="1">
              <a:lnSpc>
                <a:spcPct val="100000"/>
              </a:lnSpc>
            </a:pPr>
            <a:endParaRPr lang="en-US" sz="1600" i="1" dirty="0">
              <a:solidFill>
                <a:schemeClr val="bg1">
                  <a:lumMod val="50000"/>
                </a:schemeClr>
              </a:solidFill>
            </a:endParaRPr>
          </a:p>
          <a:p>
            <a:pPr algn="r" rtl="1">
              <a:lnSpc>
                <a:spcPct val="100000"/>
              </a:lnSpc>
            </a:pPr>
            <a:endParaRPr lang="en-US" sz="1600" i="1" dirty="0">
              <a:solidFill>
                <a:schemeClr val="bg1">
                  <a:lumMod val="50000"/>
                </a:schemeClr>
              </a:solidFill>
            </a:endParaRPr>
          </a:p>
          <a:p>
            <a:pPr algn="r" rtl="1">
              <a:lnSpc>
                <a:spcPct val="100000"/>
              </a:lnSpc>
            </a:pPr>
            <a:endParaRPr lang="en-US" sz="2000" i="1" dirty="0">
              <a:solidFill>
                <a:schemeClr val="bg1">
                  <a:lumMod val="50000"/>
                </a:schemeClr>
              </a:solidFill>
            </a:endParaRPr>
          </a:p>
          <a:p>
            <a:pPr algn="r" rtl="1">
              <a:lnSpc>
                <a:spcPct val="100000"/>
              </a:lnSpc>
            </a:pPr>
            <a:endParaRPr lang="en-US" sz="2000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مربع نص 4">
            <a:extLst>
              <a:ext uri="{FF2B5EF4-FFF2-40B4-BE49-F238E27FC236}">
                <a16:creationId xmlns:a16="http://schemas.microsoft.com/office/drawing/2014/main" id="{3FD4476A-CA90-A722-241F-90F38D7F07CE}"/>
              </a:ext>
            </a:extLst>
          </p:cNvPr>
          <p:cNvSpPr txBox="1"/>
          <p:nvPr/>
        </p:nvSpPr>
        <p:spPr>
          <a:xfrm>
            <a:off x="845126" y="3942413"/>
            <a:ext cx="3726873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class Cars {</a:t>
            </a:r>
          </a:p>
          <a:p>
            <a:r>
              <a:rPr lang="en-US" sz="1600" dirty="0"/>
              <a:t>Public:</a:t>
            </a:r>
          </a:p>
          <a:p>
            <a:r>
              <a:rPr lang="en-US" sz="1600" dirty="0"/>
              <a:t>string t;</a:t>
            </a:r>
          </a:p>
          <a:p>
            <a:r>
              <a:rPr lang="en-US" sz="1600" dirty="0"/>
              <a:t>void display() { cout&lt;&lt;t; }</a:t>
            </a:r>
          </a:p>
          <a:p>
            <a:endParaRPr lang="en-US" sz="1600" dirty="0"/>
          </a:p>
          <a:p>
            <a:r>
              <a:rPr lang="en-US" sz="1600" dirty="0"/>
              <a:t>};</a:t>
            </a:r>
          </a:p>
          <a:p>
            <a:endParaRPr lang="en-US" sz="1600" dirty="0"/>
          </a:p>
          <a:p>
            <a:r>
              <a:rPr lang="en-US" sz="1600" dirty="0"/>
              <a:t>void </a:t>
            </a:r>
            <a:r>
              <a:rPr lang="en-US" sz="1600" dirty="0">
                <a:highlight>
                  <a:srgbClr val="FF00FF"/>
                </a:highlight>
              </a:rPr>
              <a:t>print</a:t>
            </a:r>
            <a:r>
              <a:rPr lang="en-US" sz="1600" dirty="0"/>
              <a:t> (</a:t>
            </a:r>
            <a:r>
              <a:rPr lang="en-US" sz="1600" dirty="0">
                <a:highlight>
                  <a:srgbClr val="00FFFF"/>
                </a:highlight>
              </a:rPr>
              <a:t>Cars</a:t>
            </a:r>
            <a:r>
              <a:rPr lang="en-US" sz="1600" dirty="0"/>
              <a:t> </a:t>
            </a:r>
            <a:r>
              <a:rPr lang="en-US" sz="1600" dirty="0">
                <a:highlight>
                  <a:srgbClr val="FF0000"/>
                </a:highlight>
              </a:rPr>
              <a:t>&amp;</a:t>
            </a:r>
            <a:r>
              <a:rPr lang="en-US" sz="1600" dirty="0">
                <a:highlight>
                  <a:srgbClr val="00FFFF"/>
                </a:highlight>
              </a:rPr>
              <a:t>c</a:t>
            </a:r>
            <a:r>
              <a:rPr lang="en-US" sz="1600" dirty="0"/>
              <a:t>) {</a:t>
            </a:r>
          </a:p>
          <a:p>
            <a:r>
              <a:rPr lang="en-US" sz="1600" dirty="0"/>
              <a:t>c.t=“Kia”;</a:t>
            </a:r>
          </a:p>
          <a:p>
            <a:r>
              <a:rPr lang="en-US" sz="1600" dirty="0"/>
              <a:t>c.display();</a:t>
            </a:r>
          </a:p>
          <a:p>
            <a:r>
              <a:rPr lang="en-US" sz="1600" dirty="0"/>
              <a:t>}</a:t>
            </a:r>
          </a:p>
        </p:txBody>
      </p:sp>
      <p:sp>
        <p:nvSpPr>
          <p:cNvPr id="6" name="مربع نص 5">
            <a:extLst>
              <a:ext uri="{FF2B5EF4-FFF2-40B4-BE49-F238E27FC236}">
                <a16:creationId xmlns:a16="http://schemas.microsoft.com/office/drawing/2014/main" id="{B2FC6076-64DE-9324-FD44-3B357865DB3B}"/>
              </a:ext>
            </a:extLst>
          </p:cNvPr>
          <p:cNvSpPr txBox="1"/>
          <p:nvPr/>
        </p:nvSpPr>
        <p:spPr>
          <a:xfrm>
            <a:off x="3575835" y="3942412"/>
            <a:ext cx="372687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int main() {</a:t>
            </a:r>
          </a:p>
          <a:p>
            <a:r>
              <a:rPr lang="en-US" sz="1600" dirty="0">
                <a:highlight>
                  <a:srgbClr val="FFFF00"/>
                </a:highlight>
              </a:rPr>
              <a:t>Cars car1;</a:t>
            </a:r>
          </a:p>
          <a:p>
            <a:r>
              <a:rPr lang="en-US" sz="1600" dirty="0"/>
              <a:t>Car1.t=“BMW”;</a:t>
            </a:r>
          </a:p>
          <a:p>
            <a:r>
              <a:rPr lang="en-US" sz="1600" dirty="0"/>
              <a:t>car1.display();</a:t>
            </a:r>
          </a:p>
          <a:p>
            <a:r>
              <a:rPr lang="en-US" sz="16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13654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40633-008C-DC6F-475B-6D552BAFF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صورة 3" descr="صورة تحتوي على نص, برمجيات, أيقونة الحاسوب, صفحة ويب&#10;&#10;قد يكون المحتوى المعد بواسطة الذكاء الاصطناعي غير صحيح.">
            <a:extLst>
              <a:ext uri="{FF2B5EF4-FFF2-40B4-BE49-F238E27FC236}">
                <a16:creationId xmlns:a16="http://schemas.microsoft.com/office/drawing/2014/main" id="{28A3DDA8-6E63-36CF-F42C-7030C03F52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5881"/>
            <a:ext cx="12192000" cy="6426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092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1A175-3C17-DFCE-6D64-AB73E92A9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60B8E1C5-2A23-8C48-4AB9-66A0B43F3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622A62"/>
                </a:solidFill>
                <a:latin typeface="Readex Pro"/>
              </a:rPr>
              <a:t>Object as Return Type</a:t>
            </a:r>
            <a:br>
              <a:rPr lang="en-US" dirty="0"/>
            </a:br>
            <a:endParaRPr lang="en-US" sz="2400" dirty="0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43148562-8D6C-1F12-0FED-4F301F8F7D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Low">
              <a:lnSpc>
                <a:spcPct val="100000"/>
              </a:lnSpc>
            </a:pPr>
            <a:r>
              <a:rPr lang="en-US" sz="2000" dirty="0"/>
              <a:t>A </a:t>
            </a:r>
            <a:r>
              <a:rPr lang="en-US" sz="2000" dirty="0">
                <a:highlight>
                  <a:srgbClr val="FF00FF"/>
                </a:highlight>
              </a:rPr>
              <a:t>function</a:t>
            </a:r>
            <a:r>
              <a:rPr lang="en-US" sz="2000" dirty="0"/>
              <a:t> can also </a:t>
            </a:r>
            <a:r>
              <a:rPr lang="en-US" sz="2000" dirty="0">
                <a:highlight>
                  <a:srgbClr val="00FFFF"/>
                </a:highlight>
              </a:rPr>
              <a:t>return</a:t>
            </a:r>
            <a:r>
              <a:rPr lang="en-US" sz="2000" dirty="0"/>
              <a:t> an </a:t>
            </a:r>
            <a:r>
              <a:rPr lang="en-US" sz="2000" dirty="0">
                <a:highlight>
                  <a:srgbClr val="00FFFF"/>
                </a:highlight>
              </a:rPr>
              <a:t>object</a:t>
            </a:r>
            <a:r>
              <a:rPr lang="en-US" sz="2000" dirty="0"/>
              <a:t>. This is useful when we want to return a </a:t>
            </a:r>
            <a:r>
              <a:rPr lang="en-US" sz="2000" dirty="0">
                <a:highlight>
                  <a:srgbClr val="FFFF00"/>
                </a:highlight>
              </a:rPr>
              <a:t>modified</a:t>
            </a:r>
            <a:r>
              <a:rPr lang="en-US" sz="2000" dirty="0"/>
              <a:t> </a:t>
            </a:r>
            <a:r>
              <a:rPr lang="en-US" sz="2000" dirty="0">
                <a:highlight>
                  <a:srgbClr val="FFFF00"/>
                </a:highlight>
              </a:rPr>
              <a:t>object</a:t>
            </a:r>
            <a:r>
              <a:rPr lang="en-US" sz="2000" dirty="0"/>
              <a:t> or create new objects within a function.</a:t>
            </a:r>
          </a:p>
          <a:p>
            <a:pPr algn="r" rtl="1">
              <a:lnSpc>
                <a:spcPct val="100000"/>
              </a:lnSpc>
            </a:pPr>
            <a:r>
              <a:rPr lang="ar-IQ" sz="1800" i="1" dirty="0">
                <a:solidFill>
                  <a:schemeClr val="bg1">
                    <a:lumMod val="50000"/>
                  </a:schemeClr>
                </a:solidFill>
              </a:rPr>
              <a:t>يمكن للدالة أيضًا إرجاع كائن. وهذا مفيد عندما نريد إرجاع كائن معدل أو إنشاء كائنات جديدة داخل الدالة.</a:t>
            </a:r>
            <a:endParaRPr lang="en-US" sz="2000" i="1" dirty="0">
              <a:solidFill>
                <a:schemeClr val="bg1">
                  <a:lumMod val="50000"/>
                </a:schemeClr>
              </a:solidFill>
            </a:endParaRPr>
          </a:p>
          <a:p>
            <a:pPr algn="r" rtl="1">
              <a:lnSpc>
                <a:spcPct val="100000"/>
              </a:lnSpc>
            </a:pPr>
            <a:endParaRPr lang="en-US" sz="1600" i="1" dirty="0">
              <a:solidFill>
                <a:schemeClr val="bg1">
                  <a:lumMod val="50000"/>
                </a:schemeClr>
              </a:solidFill>
            </a:endParaRPr>
          </a:p>
          <a:p>
            <a:pPr algn="r" rtl="1">
              <a:lnSpc>
                <a:spcPct val="100000"/>
              </a:lnSpc>
            </a:pPr>
            <a:endParaRPr lang="en-US" sz="1600" i="1" dirty="0">
              <a:solidFill>
                <a:schemeClr val="bg1">
                  <a:lumMod val="50000"/>
                </a:schemeClr>
              </a:solidFill>
            </a:endParaRPr>
          </a:p>
          <a:p>
            <a:pPr algn="r" rtl="1">
              <a:lnSpc>
                <a:spcPct val="100000"/>
              </a:lnSpc>
            </a:pPr>
            <a:endParaRPr lang="en-US" sz="1600" i="1" dirty="0">
              <a:solidFill>
                <a:schemeClr val="bg1">
                  <a:lumMod val="50000"/>
                </a:schemeClr>
              </a:solidFill>
            </a:endParaRPr>
          </a:p>
          <a:p>
            <a:pPr algn="r" rtl="1">
              <a:lnSpc>
                <a:spcPct val="100000"/>
              </a:lnSpc>
            </a:pPr>
            <a:endParaRPr lang="en-US" sz="2000" i="1" dirty="0">
              <a:solidFill>
                <a:schemeClr val="bg1">
                  <a:lumMod val="50000"/>
                </a:schemeClr>
              </a:solidFill>
            </a:endParaRPr>
          </a:p>
          <a:p>
            <a:pPr algn="r" rtl="1">
              <a:lnSpc>
                <a:spcPct val="100000"/>
              </a:lnSpc>
            </a:pPr>
            <a:endParaRPr lang="en-US" sz="2000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مربع نص 3">
            <a:extLst>
              <a:ext uri="{FF2B5EF4-FFF2-40B4-BE49-F238E27FC236}">
                <a16:creationId xmlns:a16="http://schemas.microsoft.com/office/drawing/2014/main" id="{62F8A704-D95C-B3E4-F016-D22D48A4F3BE}"/>
              </a:ext>
            </a:extLst>
          </p:cNvPr>
          <p:cNvSpPr txBox="1"/>
          <p:nvPr/>
        </p:nvSpPr>
        <p:spPr>
          <a:xfrm>
            <a:off x="845127" y="3608882"/>
            <a:ext cx="4542019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class Numbers {</a:t>
            </a:r>
          </a:p>
          <a:p>
            <a:r>
              <a:rPr lang="en-US" sz="1600" dirty="0"/>
              <a:t>Private:</a:t>
            </a:r>
          </a:p>
          <a:p>
            <a:r>
              <a:rPr lang="en-US" sz="1600" dirty="0"/>
              <a:t>Int x;</a:t>
            </a:r>
          </a:p>
          <a:p>
            <a:r>
              <a:rPr lang="en-US" sz="1600" dirty="0"/>
              <a:t>Public:</a:t>
            </a:r>
          </a:p>
          <a:p>
            <a:endParaRPr lang="en-US" sz="1600" dirty="0"/>
          </a:p>
          <a:p>
            <a:r>
              <a:rPr lang="en-US" sz="1600" dirty="0"/>
              <a:t>Numbers </a:t>
            </a:r>
            <a:r>
              <a:rPr lang="en-US" sz="1600" dirty="0">
                <a:highlight>
                  <a:srgbClr val="FF00FF"/>
                </a:highlight>
              </a:rPr>
              <a:t>add</a:t>
            </a:r>
            <a:r>
              <a:rPr lang="en-US" sz="1600" dirty="0"/>
              <a:t>(Complex c) {</a:t>
            </a:r>
          </a:p>
          <a:p>
            <a:r>
              <a:rPr lang="en-US" sz="1600" dirty="0"/>
              <a:t>Numbers result;</a:t>
            </a:r>
          </a:p>
          <a:p>
            <a:r>
              <a:rPr lang="en-US" sz="1600" dirty="0" err="1">
                <a:highlight>
                  <a:srgbClr val="FFFF00"/>
                </a:highlight>
              </a:rPr>
              <a:t>result.x</a:t>
            </a:r>
            <a:r>
              <a:rPr lang="en-US" sz="1600" dirty="0">
                <a:highlight>
                  <a:srgbClr val="FFFF00"/>
                </a:highlight>
              </a:rPr>
              <a:t> = x + </a:t>
            </a:r>
            <a:r>
              <a:rPr lang="en-US" sz="1600" dirty="0" err="1">
                <a:highlight>
                  <a:srgbClr val="FFFF00"/>
                </a:highlight>
              </a:rPr>
              <a:t>c.real</a:t>
            </a:r>
            <a:r>
              <a:rPr lang="en-US" sz="1600" dirty="0">
                <a:highlight>
                  <a:srgbClr val="FFFF00"/>
                </a:highlight>
              </a:rPr>
              <a:t>;</a:t>
            </a:r>
          </a:p>
          <a:p>
            <a:r>
              <a:rPr lang="en-US" sz="1600" dirty="0">
                <a:highlight>
                  <a:srgbClr val="00FFFF"/>
                </a:highlight>
              </a:rPr>
              <a:t>return</a:t>
            </a:r>
            <a:r>
              <a:rPr lang="en-US" sz="1600" dirty="0"/>
              <a:t> </a:t>
            </a:r>
            <a:r>
              <a:rPr lang="en-US" sz="1600" dirty="0">
                <a:highlight>
                  <a:srgbClr val="00FFFF"/>
                </a:highlight>
              </a:rPr>
              <a:t>result</a:t>
            </a:r>
            <a:r>
              <a:rPr lang="en-US" sz="1600" dirty="0"/>
              <a:t>;</a:t>
            </a:r>
          </a:p>
          <a:p>
            <a:r>
              <a:rPr lang="en-US" sz="1600" dirty="0"/>
              <a:t>}</a:t>
            </a:r>
          </a:p>
          <a:p>
            <a:endParaRPr lang="en-US" sz="1600" dirty="0"/>
          </a:p>
          <a:p>
            <a:r>
              <a:rPr lang="en-US" sz="1600" dirty="0"/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642299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3189EB-4103-17A4-6944-67ACEFDD9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 descr="صورة تحتوي على نص, لقطة شاشة, برمجيات, عرض&#10;&#10;قد يكون المحتوى المعد بواسطة الذكاء الاصطناعي غير صحيح.">
            <a:extLst>
              <a:ext uri="{FF2B5EF4-FFF2-40B4-BE49-F238E27FC236}">
                <a16:creationId xmlns:a16="http://schemas.microsoft.com/office/drawing/2014/main" id="{DBE25CAC-DA52-3B13-26DD-F0A9CBF916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5881"/>
            <a:ext cx="12192000" cy="6426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581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000"/>
    </mc:Choice>
    <mc:Fallback xmlns="">
      <p:transition spd="slow" advTm="1500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58B99329-7556-88BC-3E32-2323C6CE5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2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182357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00"/>
    </mc:Choice>
    <mc:Fallback xmlns="">
      <p:transition spd="slow" advTm="4000"/>
    </mc:Fallback>
  </mc:AlternateContent>
</p:sld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TM02900720[[fn=متكامل]]</Template>
  <TotalTime>792</TotalTime>
  <Words>889</Words>
  <Application>Microsoft Office PowerPoint</Application>
  <PresentationFormat>Widescreen</PresentationFormat>
  <Paragraphs>161</Paragraphs>
  <Slides>20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Aptos</vt:lpstr>
      <vt:lpstr>Arial</vt:lpstr>
      <vt:lpstr>Calibri</vt:lpstr>
      <vt:lpstr>Calibri (النص الأساسي)</vt:lpstr>
      <vt:lpstr>Calibri Light</vt:lpstr>
      <vt:lpstr>Readex Pro</vt:lpstr>
      <vt:lpstr>Wingdings 2</vt:lpstr>
      <vt:lpstr>HDOfficeLightV0</vt:lpstr>
      <vt:lpstr>Object Oriented Programming (OPP) </vt:lpstr>
      <vt:lpstr>Encapsulation</vt:lpstr>
      <vt:lpstr>Table of Contents</vt:lpstr>
      <vt:lpstr>Introduction to Encapsulation</vt:lpstr>
      <vt:lpstr>What is Encapsulation?</vt:lpstr>
      <vt:lpstr>How to Encapsulation?</vt:lpstr>
      <vt:lpstr>How to Encapsulation?</vt:lpstr>
      <vt:lpstr>Objects and Member Access</vt:lpstr>
      <vt:lpstr>PowerPoint Presentation</vt:lpstr>
      <vt:lpstr>Defining Member Functions Inside the class (Inline functions)</vt:lpstr>
      <vt:lpstr>PowerPoint Presentation</vt:lpstr>
      <vt:lpstr>Defining Member Functions Outside the class (Using scope resolution)</vt:lpstr>
      <vt:lpstr>PowerPoint Presentation</vt:lpstr>
      <vt:lpstr>Object as Function Arguments By Value</vt:lpstr>
      <vt:lpstr>PowerPoint Presentation</vt:lpstr>
      <vt:lpstr>Object as Function Arguments By Reference</vt:lpstr>
      <vt:lpstr>PowerPoint Presentation</vt:lpstr>
      <vt:lpstr>Object as Return Type 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 Nukhailawi</dc:creator>
  <cp:lastModifiedBy>Ali Nukhailawi</cp:lastModifiedBy>
  <cp:revision>7</cp:revision>
  <dcterms:created xsi:type="dcterms:W3CDTF">2025-05-16T13:45:36Z</dcterms:created>
  <dcterms:modified xsi:type="dcterms:W3CDTF">2026-01-03T09:55:38Z</dcterms:modified>
</cp:coreProperties>
</file>